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Lst>
  <p:sldSz cy="9144000" cx="16256000"/>
  <p:notesSz cx="9144000" cy="16256000"/>
  <p:embeddedFontLst>
    <p:embeddedFont>
      <p:font typeface="Quattrocento Sans"/>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h4Wh5Favu3JwaQeNfUd3SO443+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87C0237-DA9E-4662-9322-4A2B85B3CDDC}">
  <a:tblStyle styleId="{587C0237-DA9E-4662-9322-4A2B85B3CDD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QuattrocentoSans-bold.fntdata"/><Relationship Id="rId12" Type="http://schemas.openxmlformats.org/officeDocument/2006/relationships/font" Target="fonts/QuattrocentoSa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QuattrocentoSans-boldItalic.fntdata"/><Relationship Id="rId14" Type="http://schemas.openxmlformats.org/officeDocument/2006/relationships/font" Target="fonts/QuattrocentoSans-italic.fntdata"/><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US"/>
              <a:t>Arushi</a:t>
            </a:r>
            <a:endParaRPr/>
          </a:p>
          <a:p>
            <a:pPr indent="0" lvl="0" marL="0" rtl="0" algn="l">
              <a:spcBef>
                <a:spcPts val="0"/>
              </a:spcBef>
              <a:spcAft>
                <a:spcPts val="0"/>
              </a:spcAft>
              <a:buSzPts val="1100"/>
              <a:buNone/>
            </a:pPr>
            <a:r>
              <a:t/>
            </a:r>
            <a:endParaRPr/>
          </a:p>
          <a:p>
            <a:pPr indent="0" lvl="0" marL="0" rtl="0" algn="l">
              <a:spcBef>
                <a:spcPts val="0"/>
              </a:spcBef>
              <a:spcAft>
                <a:spcPts val="0"/>
              </a:spcAft>
              <a:buClr>
                <a:schemeClr val="dk1"/>
              </a:buClr>
              <a:buSzPts val="1100"/>
              <a:buFont typeface="Arial"/>
              <a:buNone/>
            </a:pPr>
            <a:r>
              <a:rPr lang="en-US"/>
              <a:t>Hi, we’re Tania and Arushi, and this project is about combining machine learning with graph search to analyze fraud in transaction networks.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Instead of just predicting fraud, we use those predictions to guide how we explore connections between customers and merchants. Our goal is to move beyond isolated predictions and uncover patterns of suspicious activity across the network.</a:t>
            </a:r>
            <a:endParaRPr/>
          </a:p>
        </p:txBody>
      </p:sp>
      <p:sp>
        <p:nvSpPr>
          <p:cNvPr id="15" name="Google Shape;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t/>
            </a:r>
            <a:endParaRPr/>
          </a:p>
          <a:p>
            <a:pPr indent="0" lvl="0" marL="0" rtl="0" algn="l">
              <a:lnSpc>
                <a:spcPct val="115000"/>
              </a:lnSpc>
              <a:spcBef>
                <a:spcPts val="1200"/>
              </a:spcBef>
              <a:spcAft>
                <a:spcPts val="0"/>
              </a:spcAft>
              <a:buClr>
                <a:schemeClr val="dk1"/>
              </a:buClr>
              <a:buSzPts val="1100"/>
              <a:buFont typeface="Arial"/>
              <a:buNone/>
            </a:pPr>
            <a:r>
              <a:rPr lang="en-US"/>
              <a:t>Fraud detection isn’t just about individual transactions, it’s really a network problem involving relationships between customers and merchants.</a:t>
            </a:r>
            <a:endParaRPr/>
          </a:p>
          <a:p>
            <a:pPr indent="0" lvl="0" marL="0" rtl="0" algn="l">
              <a:lnSpc>
                <a:spcPct val="115000"/>
              </a:lnSpc>
              <a:spcBef>
                <a:spcPts val="1200"/>
              </a:spcBef>
              <a:spcAft>
                <a:spcPts val="0"/>
              </a:spcAft>
              <a:buClr>
                <a:schemeClr val="dk1"/>
              </a:buClr>
              <a:buSzPts val="1100"/>
              <a:buFont typeface="Arial"/>
              <a:buNone/>
            </a:pPr>
            <a:r>
              <a:rPr lang="en-US"/>
              <a:t>Traditional approaches fall into two categories. Machine learning models classify transactions independently but ignore network structure. Graph-based methods analyze connections, but they don’t incorporate predictive risk.</a:t>
            </a:r>
            <a:endParaRPr/>
          </a:p>
          <a:p>
            <a:pPr indent="0" lvl="0" marL="0" rtl="0" algn="l">
              <a:lnSpc>
                <a:spcPct val="115000"/>
              </a:lnSpc>
              <a:spcBef>
                <a:spcPts val="1200"/>
              </a:spcBef>
              <a:spcAft>
                <a:spcPts val="0"/>
              </a:spcAft>
              <a:buClr>
                <a:schemeClr val="dk1"/>
              </a:buClr>
              <a:buSzPts val="1100"/>
              <a:buFont typeface="Arial"/>
              <a:buNone/>
            </a:pPr>
            <a:r>
              <a:rPr lang="en-US"/>
              <a:t>This creates a gap, where predictions and structure are not integrated.</a:t>
            </a:r>
            <a:endParaRPr/>
          </a:p>
          <a:p>
            <a:pPr indent="0" lvl="0" marL="0" rtl="0" algn="l">
              <a:lnSpc>
                <a:spcPct val="115000"/>
              </a:lnSpc>
              <a:spcBef>
                <a:spcPts val="1200"/>
              </a:spcBef>
              <a:spcAft>
                <a:spcPts val="1200"/>
              </a:spcAft>
              <a:buSzPts val="1100"/>
              <a:buNone/>
            </a:pPr>
            <a:r>
              <a:rPr lang="en-US"/>
              <a:t>Our idea is to combine both by using machine learning-generated risk scores to guide graph search, enabling more informed exploration of the network.</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t/>
            </a:r>
            <a:endParaRPr/>
          </a:p>
        </p:txBody>
      </p:sp>
      <p:sp>
        <p:nvSpPr>
          <p:cNvPr id="45" name="Google Shape;4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381000" rtl="0" algn="l">
              <a:lnSpc>
                <a:spcPct val="115000"/>
              </a:lnSpc>
              <a:spcBef>
                <a:spcPts val="1200"/>
              </a:spcBef>
              <a:spcAft>
                <a:spcPts val="0"/>
              </a:spcAft>
              <a:buSzPts val="1100"/>
              <a:buNone/>
            </a:pPr>
            <a:r>
              <a:rPr lang="en-US"/>
              <a:t>Arushi</a:t>
            </a:r>
            <a:endParaRPr/>
          </a:p>
          <a:p>
            <a:pPr indent="0" lvl="0" marL="0" marR="381000" rtl="0" algn="l">
              <a:lnSpc>
                <a:spcPct val="115000"/>
              </a:lnSpc>
              <a:spcBef>
                <a:spcPts val="1200"/>
              </a:spcBef>
              <a:spcAft>
                <a:spcPts val="0"/>
              </a:spcAft>
              <a:buSzPts val="1100"/>
              <a:buNone/>
            </a:pPr>
            <a:r>
              <a:rPr lang="en-US"/>
              <a:t>We compare two search strategies: a structural baseline and a risk-informed approach.</a:t>
            </a:r>
            <a:endParaRPr/>
          </a:p>
          <a:p>
            <a:pPr indent="0" lvl="0" marL="0" marR="381000" rtl="0" algn="l">
              <a:lnSpc>
                <a:spcPct val="115000"/>
              </a:lnSpc>
              <a:spcBef>
                <a:spcPts val="1200"/>
              </a:spcBef>
              <a:spcAft>
                <a:spcPts val="0"/>
              </a:spcAft>
              <a:buSzPts val="1100"/>
              <a:buNone/>
            </a:pPr>
            <a:r>
              <a:rPr lang="en-US"/>
              <a:t>Breadth-first search explores the graph level by level and finds the shortest path in terms of number of edges, but it does not consider fraud risk.</a:t>
            </a:r>
            <a:endParaRPr/>
          </a:p>
          <a:p>
            <a:pPr indent="0" lvl="0" marL="0" marR="381000" rtl="0" algn="l">
              <a:lnSpc>
                <a:spcPct val="115000"/>
              </a:lnSpc>
              <a:spcBef>
                <a:spcPts val="1200"/>
              </a:spcBef>
              <a:spcAft>
                <a:spcPts val="0"/>
              </a:spcAft>
              <a:buSzPts val="1100"/>
              <a:buNone/>
            </a:pPr>
            <a:r>
              <a:rPr lang="en-US"/>
              <a:t>In contrast, A-star search is cost-guided. It minimizes total path cost using the risk-based cost we defined earlier.</a:t>
            </a:r>
            <a:endParaRPr/>
          </a:p>
          <a:p>
            <a:pPr indent="0" lvl="0" marL="0" marR="381000" rtl="0" algn="l">
              <a:lnSpc>
                <a:spcPct val="115000"/>
              </a:lnSpc>
              <a:spcBef>
                <a:spcPts val="1200"/>
              </a:spcBef>
              <a:spcAft>
                <a:spcPts val="0"/>
              </a:spcAft>
              <a:buSzPts val="1100"/>
              <a:buNone/>
            </a:pPr>
            <a:r>
              <a:rPr lang="en-US"/>
              <a:t>This means A-star prioritizes paths that include high-risk transactions, allowing it to surface more suspicious activity.</a:t>
            </a:r>
            <a:endParaRPr/>
          </a:p>
          <a:p>
            <a:pPr indent="0" lvl="0" marL="0" marR="381000" rtl="0" algn="l">
              <a:lnSpc>
                <a:spcPct val="115000"/>
              </a:lnSpc>
              <a:spcBef>
                <a:spcPts val="1200"/>
              </a:spcBef>
              <a:spcAft>
                <a:spcPts val="1200"/>
              </a:spcAft>
              <a:buSzPts val="1100"/>
              <a:buNone/>
            </a:pPr>
            <a:r>
              <a:rPr lang="en-US"/>
              <a:t>This comparison helps us evaluate the impact of integrating machine learning into the search process.</a:t>
            </a:r>
            <a:endParaRPr/>
          </a:p>
        </p:txBody>
      </p:sp>
      <p:sp>
        <p:nvSpPr>
          <p:cNvPr id="67" name="Google Shape;6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8976ad42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8976ad42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g3a8976ad427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8976ad427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8976ad427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g3a8976ad427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PTIST_MASTER">
  <p:cSld name="PPTIST_MASTER">
    <p:bg>
      <p:bgPr>
        <a:solidFill>
          <a:srgbClr val="FFFFFF"/>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 name="Shape 16"/>
        <p:cNvGrpSpPr/>
        <p:nvPr/>
      </p:nvGrpSpPr>
      <p:grpSpPr>
        <a:xfrm>
          <a:off x="0" y="0"/>
          <a:ext cx="0" cy="0"/>
          <a:chOff x="0" y="0"/>
          <a:chExt cx="0" cy="0"/>
        </a:xfrm>
      </p:grpSpPr>
      <p:pic>
        <p:nvPicPr>
          <p:cNvPr descr="https://kimi-img.moonshot.cn/pub/slides/okc/abgllw6kpd5b6/mnt/agents/output/fraud_network_analysis/images/1_Abstract_Network_Blue_Lines_Nodes.png" id="17" name="Google Shape;17;p1"/>
          <p:cNvPicPr preferRelativeResize="0"/>
          <p:nvPr/>
        </p:nvPicPr>
        <p:blipFill rotWithShape="1">
          <a:blip r:embed="rId3">
            <a:alphaModFix/>
          </a:blip>
          <a:srcRect b="0" l="111" r="111" t="0"/>
          <a:stretch/>
        </p:blipFill>
        <p:spPr>
          <a:xfrm>
            <a:off x="0" y="0"/>
            <a:ext cx="16256000" cy="9144000"/>
          </a:xfrm>
          <a:prstGeom prst="rect">
            <a:avLst/>
          </a:prstGeom>
          <a:noFill/>
          <a:ln>
            <a:noFill/>
          </a:ln>
        </p:spPr>
      </p:pic>
      <p:sp>
        <p:nvSpPr>
          <p:cNvPr id="18" name="Google Shape;18;p1"/>
          <p:cNvSpPr/>
          <p:nvPr/>
        </p:nvSpPr>
        <p:spPr>
          <a:xfrm>
            <a:off x="-100" y="0"/>
            <a:ext cx="16256100" cy="9144000"/>
          </a:xfrm>
          <a:prstGeom prst="rect">
            <a:avLst/>
          </a:prstGeom>
          <a:gradFill>
            <a:gsLst>
              <a:gs pos="0">
                <a:srgbClr val="0F2027">
                  <a:alpha val="80000"/>
                </a:srgbClr>
              </a:gs>
              <a:gs pos="100000">
                <a:srgbClr val="0F2027">
                  <a:alpha val="92941"/>
                </a:srgbClr>
              </a:gs>
            </a:gsLst>
            <a:lin ang="5400000" scaled="0"/>
          </a:gra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6663625" y="986200"/>
            <a:ext cx="2540100" cy="38100"/>
          </a:xfrm>
          <a:prstGeom prst="rect">
            <a:avLst/>
          </a:prstGeom>
          <a:solidFill>
            <a:srgbClr val="D4A0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1778000" y="1024300"/>
            <a:ext cx="12699900" cy="152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4000">
                <a:solidFill>
                  <a:srgbClr val="FFFFFF"/>
                </a:solidFill>
                <a:latin typeface="Quattrocento Sans"/>
                <a:ea typeface="Quattrocento Sans"/>
                <a:cs typeface="Quattrocento Sans"/>
                <a:sym typeface="Quattrocento Sans"/>
              </a:rPr>
              <a:t>Multi Agent System for </a:t>
            </a:r>
            <a:r>
              <a:rPr b="1" i="0" lang="en-US" sz="4000" u="none" cap="none" strike="noStrike">
                <a:solidFill>
                  <a:srgbClr val="FFFFFF"/>
                </a:solidFill>
                <a:latin typeface="Quattrocento Sans"/>
                <a:ea typeface="Quattrocento Sans"/>
                <a:cs typeface="Quattrocento Sans"/>
                <a:sym typeface="Quattrocento Sans"/>
              </a:rPr>
              <a:t>Fraud Analysi</a:t>
            </a:r>
            <a:r>
              <a:rPr b="1" lang="en-US" sz="4000">
                <a:solidFill>
                  <a:srgbClr val="FFFFFF"/>
                </a:solidFill>
                <a:latin typeface="Quattrocento Sans"/>
                <a:ea typeface="Quattrocento Sans"/>
                <a:cs typeface="Quattrocento Sans"/>
                <a:sym typeface="Quattrocento Sans"/>
              </a:rPr>
              <a:t>s</a:t>
            </a:r>
            <a:endParaRPr b="0" i="0" sz="4000" u="none" cap="none" strike="noStrike"/>
          </a:p>
        </p:txBody>
      </p:sp>
      <p:sp>
        <p:nvSpPr>
          <p:cNvPr id="21" name="Google Shape;21;p1"/>
          <p:cNvSpPr/>
          <p:nvPr/>
        </p:nvSpPr>
        <p:spPr>
          <a:xfrm>
            <a:off x="6663675" y="2385800"/>
            <a:ext cx="2540100" cy="38100"/>
          </a:xfrm>
          <a:prstGeom prst="rect">
            <a:avLst/>
          </a:prstGeom>
          <a:solidFill>
            <a:srgbClr val="D4A0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4123675" y="2892475"/>
            <a:ext cx="7620000" cy="507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2200">
                <a:solidFill>
                  <a:srgbClr val="FFFFFF"/>
                </a:solidFill>
                <a:latin typeface="Quattrocento Sans"/>
                <a:ea typeface="Quattrocento Sans"/>
                <a:cs typeface="Quattrocento Sans"/>
                <a:sym typeface="Quattrocento Sans"/>
              </a:rPr>
              <a:t>By: </a:t>
            </a:r>
            <a:r>
              <a:rPr b="0" i="0" lang="en-US" sz="2200" u="none" cap="none" strike="noStrike">
                <a:solidFill>
                  <a:srgbClr val="FFFFFF"/>
                </a:solidFill>
                <a:latin typeface="Quattrocento Sans"/>
                <a:ea typeface="Quattrocento Sans"/>
                <a:cs typeface="Quattrocento Sans"/>
                <a:sym typeface="Quattrocento Sans"/>
              </a:rPr>
              <a:t>Arushi Pradhan</a:t>
            </a:r>
            <a:endParaRPr b="0" i="0" sz="1600" u="none" cap="none" strike="noStrike"/>
          </a:p>
        </p:txBody>
      </p:sp>
      <p:sp>
        <p:nvSpPr>
          <p:cNvPr id="23" name="Google Shape;23;p1"/>
          <p:cNvSpPr/>
          <p:nvPr/>
        </p:nvSpPr>
        <p:spPr>
          <a:xfrm>
            <a:off x="4317950" y="3508050"/>
            <a:ext cx="7620000" cy="381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600" u="none" cap="none" strike="noStrike"/>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F"/>
        </a:solidFill>
      </p:bgPr>
    </p:bg>
    <p:spTree>
      <p:nvGrpSpPr>
        <p:cNvPr id="28" name="Shape 28"/>
        <p:cNvGrpSpPr/>
        <p:nvPr/>
      </p:nvGrpSpPr>
      <p:grpSpPr>
        <a:xfrm>
          <a:off x="0" y="0"/>
          <a:ext cx="0" cy="0"/>
          <a:chOff x="0" y="0"/>
          <a:chExt cx="0" cy="0"/>
        </a:xfrm>
      </p:grpSpPr>
      <p:sp>
        <p:nvSpPr>
          <p:cNvPr id="29" name="Google Shape;29;p2"/>
          <p:cNvSpPr/>
          <p:nvPr/>
        </p:nvSpPr>
        <p:spPr>
          <a:xfrm>
            <a:off x="0" y="0"/>
            <a:ext cx="16256000" cy="508000"/>
          </a:xfrm>
          <a:prstGeom prst="rect">
            <a:avLst/>
          </a:prstGeom>
          <a:solidFill>
            <a:srgbClr val="1B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2032000" y="0"/>
            <a:ext cx="2032000" cy="50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t/>
            </a:r>
            <a:endParaRPr b="0" i="0" sz="1400" u="none" cap="none" strike="noStrike"/>
          </a:p>
        </p:txBody>
      </p:sp>
      <p:sp>
        <p:nvSpPr>
          <p:cNvPr id="31" name="Google Shape;31;p2"/>
          <p:cNvSpPr/>
          <p:nvPr/>
        </p:nvSpPr>
        <p:spPr>
          <a:xfrm>
            <a:off x="762000" y="698500"/>
            <a:ext cx="7620000" cy="50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1B3A4B"/>
                </a:solidFill>
                <a:latin typeface="Quattrocento Sans"/>
                <a:ea typeface="Quattrocento Sans"/>
                <a:cs typeface="Quattrocento Sans"/>
                <a:sym typeface="Quattrocento Sans"/>
              </a:rPr>
              <a:t>Problem &amp; Motivation</a:t>
            </a:r>
            <a:endParaRPr b="0" i="0" sz="2800" u="none" cap="none" strike="noStrike"/>
          </a:p>
        </p:txBody>
      </p:sp>
      <p:sp>
        <p:nvSpPr>
          <p:cNvPr id="32" name="Google Shape;32;p2"/>
          <p:cNvSpPr/>
          <p:nvPr/>
        </p:nvSpPr>
        <p:spPr>
          <a:xfrm>
            <a:off x="762000" y="1270000"/>
            <a:ext cx="1016000" cy="38100"/>
          </a:xfrm>
          <a:prstGeom prst="rect">
            <a:avLst/>
          </a:prstGeom>
          <a:solidFill>
            <a:srgbClr val="D4A0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762000" y="1587500"/>
            <a:ext cx="7620000" cy="66040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1" i="0" lang="en-US" sz="2000" u="none" cap="none" strike="noStrike">
                <a:solidFill>
                  <a:srgbClr val="1E1E1E"/>
                </a:solidFill>
                <a:latin typeface="Quattrocento Sans"/>
                <a:ea typeface="Quattrocento Sans"/>
                <a:cs typeface="Quattrocento Sans"/>
                <a:sym typeface="Quattrocento Sans"/>
              </a:rPr>
              <a:t>Fraud detection is a complex network problem</a:t>
            </a:r>
            <a:endParaRPr b="0" i="0" sz="2000" u="none" cap="none" strike="noStrike"/>
          </a:p>
          <a:p>
            <a:pPr indent="0" lvl="0" marL="0" marR="0" rtl="0" algn="l">
              <a:lnSpc>
                <a:spcPct val="160000"/>
              </a:lnSpc>
              <a:spcBef>
                <a:spcPts val="1400"/>
              </a:spcBef>
              <a:spcAft>
                <a:spcPts val="0"/>
              </a:spcAft>
              <a:buNone/>
            </a:pPr>
            <a:r>
              <a:rPr b="0" i="0" lang="en-US" sz="2000" u="none" cap="none" strike="noStrike">
                <a:solidFill>
                  <a:srgbClr val="1E1E1E"/>
                </a:solidFill>
                <a:latin typeface="Quattrocento Sans"/>
                <a:ea typeface="Quattrocento Sans"/>
                <a:cs typeface="Quattrocento Sans"/>
                <a:sym typeface="Quattrocento Sans"/>
              </a:rPr>
              <a:t>Traditional approaches fall into two isolated categories:</a:t>
            </a:r>
            <a:endParaRPr b="0" i="0" sz="2000" u="none" cap="none" strike="noStrike"/>
          </a:p>
          <a:p>
            <a:pPr indent="0" lvl="0" marL="0" marR="0" rtl="0" algn="l">
              <a:lnSpc>
                <a:spcPct val="160000"/>
              </a:lnSpc>
              <a:spcBef>
                <a:spcPts val="10"/>
              </a:spcBef>
              <a:spcAft>
                <a:spcPts val="0"/>
              </a:spcAft>
              <a:buNone/>
            </a:pPr>
            <a:r>
              <a:rPr b="1" i="0" lang="en-US" sz="2000" u="none" cap="none" strike="noStrike">
                <a:solidFill>
                  <a:srgbClr val="1E1E1E"/>
                </a:solidFill>
                <a:latin typeface="Quattrocento Sans"/>
                <a:ea typeface="Quattrocento Sans"/>
                <a:cs typeface="Quattrocento Sans"/>
                <a:sym typeface="Quattrocento Sans"/>
              </a:rPr>
              <a:t>ML only</a:t>
            </a:r>
            <a:r>
              <a:rPr b="0" i="0" lang="en-US" sz="2000" u="none" cap="none" strike="noStrike">
                <a:solidFill>
                  <a:srgbClr val="1E1E1E"/>
                </a:solidFill>
                <a:latin typeface="Quattrocento Sans"/>
                <a:ea typeface="Quattrocento Sans"/>
                <a:cs typeface="Quattrocento Sans"/>
                <a:sym typeface="Quattrocento Sans"/>
              </a:rPr>
              <a:t> — classifies each transaction independently, ignoring network structure and relationships between entities</a:t>
            </a:r>
            <a:endParaRPr b="0" i="0" sz="2000" u="none" cap="none" strike="noStrike"/>
          </a:p>
          <a:p>
            <a:pPr indent="0" lvl="0" marL="0" marR="0" rtl="0" algn="l">
              <a:lnSpc>
                <a:spcPct val="160000"/>
              </a:lnSpc>
              <a:spcBef>
                <a:spcPts val="10"/>
              </a:spcBef>
              <a:spcAft>
                <a:spcPts val="0"/>
              </a:spcAft>
              <a:buNone/>
            </a:pPr>
            <a:r>
              <a:rPr b="1" i="0" lang="en-US" sz="2000" u="none" cap="none" strike="noStrike">
                <a:solidFill>
                  <a:srgbClr val="1E1E1E"/>
                </a:solidFill>
                <a:latin typeface="Quattrocento Sans"/>
                <a:ea typeface="Quattrocento Sans"/>
                <a:cs typeface="Quattrocento Sans"/>
                <a:sym typeface="Quattrocento Sans"/>
              </a:rPr>
              <a:t>Graph only</a:t>
            </a:r>
            <a:r>
              <a:rPr b="0" i="0" lang="en-US" sz="2000" u="none" cap="none" strike="noStrike">
                <a:solidFill>
                  <a:srgbClr val="1E1E1E"/>
                </a:solidFill>
                <a:latin typeface="Quattrocento Sans"/>
                <a:ea typeface="Quattrocento Sans"/>
                <a:cs typeface="Quattrocento Sans"/>
                <a:sym typeface="Quattrocento Sans"/>
              </a:rPr>
              <a:t> — analyzes connections between customers and merchants, but lacks predictive risk </a:t>
            </a:r>
            <a:r>
              <a:rPr lang="en-US" sz="2000">
                <a:solidFill>
                  <a:srgbClr val="1E1E1E"/>
                </a:solidFill>
                <a:latin typeface="Quattrocento Sans"/>
                <a:ea typeface="Quattrocento Sans"/>
                <a:cs typeface="Quattrocento Sans"/>
                <a:sym typeface="Quattrocento Sans"/>
              </a:rPr>
              <a:t>scoring</a:t>
            </a:r>
            <a:endParaRPr b="0" i="0" sz="2000" u="none" cap="none" strike="noStrike"/>
          </a:p>
          <a:p>
            <a:pPr indent="0" lvl="0" marL="0" marR="0" rtl="0" algn="l">
              <a:lnSpc>
                <a:spcPct val="160000"/>
              </a:lnSpc>
              <a:spcBef>
                <a:spcPts val="1600"/>
              </a:spcBef>
              <a:spcAft>
                <a:spcPts val="0"/>
              </a:spcAft>
              <a:buNone/>
            </a:pPr>
            <a:r>
              <a:rPr b="1" i="0" lang="en-US" sz="2000" u="none" cap="none" strike="noStrike">
                <a:solidFill>
                  <a:srgbClr val="D4A017"/>
                </a:solidFill>
                <a:latin typeface="Quattrocento Sans"/>
                <a:ea typeface="Quattrocento Sans"/>
                <a:cs typeface="Quattrocento Sans"/>
                <a:sym typeface="Quattrocento Sans"/>
              </a:rPr>
              <a:t>Gap:</a:t>
            </a:r>
            <a:r>
              <a:rPr b="0" i="0" lang="en-US" sz="2000" u="none" cap="none" strike="noStrike">
                <a:solidFill>
                  <a:srgbClr val="1E1E1E"/>
                </a:solidFill>
                <a:latin typeface="Quattrocento Sans"/>
                <a:ea typeface="Quattrocento Sans"/>
                <a:cs typeface="Quattrocento Sans"/>
                <a:sym typeface="Quattrocento Sans"/>
              </a:rPr>
              <a:t> No existing framework integrates both ML predictions and graph search into a unified system</a:t>
            </a:r>
            <a:endParaRPr b="0" i="0" sz="2000" u="none" cap="none" strike="noStrike"/>
          </a:p>
          <a:p>
            <a:pPr indent="0" lvl="0" marL="0" marR="0" rtl="0" algn="l">
              <a:lnSpc>
                <a:spcPct val="160000"/>
              </a:lnSpc>
              <a:spcBef>
                <a:spcPts val="1600"/>
              </a:spcBef>
              <a:spcAft>
                <a:spcPts val="0"/>
              </a:spcAft>
              <a:buNone/>
            </a:pPr>
            <a:r>
              <a:rPr b="1" lang="en-US" sz="2000">
                <a:solidFill>
                  <a:srgbClr val="D4A017"/>
                </a:solidFill>
                <a:latin typeface="Quattrocento Sans"/>
                <a:ea typeface="Quattrocento Sans"/>
                <a:cs typeface="Quattrocento Sans"/>
                <a:sym typeface="Quattrocento Sans"/>
              </a:rPr>
              <a:t>I</a:t>
            </a:r>
            <a:r>
              <a:rPr b="1" i="0" lang="en-US" sz="2000" u="none" cap="none" strike="noStrike">
                <a:solidFill>
                  <a:srgbClr val="D4A017"/>
                </a:solidFill>
                <a:latin typeface="Quattrocento Sans"/>
                <a:ea typeface="Quattrocento Sans"/>
                <a:cs typeface="Quattrocento Sans"/>
                <a:sym typeface="Quattrocento Sans"/>
              </a:rPr>
              <a:t>dea:</a:t>
            </a:r>
            <a:r>
              <a:rPr b="0" i="0" lang="en-US" sz="2000" u="none" cap="none" strike="noStrike">
                <a:solidFill>
                  <a:srgbClr val="1E1E1E"/>
                </a:solidFill>
                <a:latin typeface="Quattrocento Sans"/>
                <a:ea typeface="Quattrocento Sans"/>
                <a:cs typeface="Quattrocento Sans"/>
                <a:sym typeface="Quattrocento Sans"/>
              </a:rPr>
              <a:t> Use ML-generated fraud risk scores to guide graph traversal algorithms and multi ag</a:t>
            </a:r>
            <a:r>
              <a:rPr lang="en-US" sz="2000">
                <a:solidFill>
                  <a:srgbClr val="1E1E1E"/>
                </a:solidFill>
                <a:latin typeface="Quattrocento Sans"/>
                <a:ea typeface="Quattrocento Sans"/>
                <a:cs typeface="Quattrocento Sans"/>
                <a:sym typeface="Quattrocento Sans"/>
              </a:rPr>
              <a:t>ent support</a:t>
            </a:r>
            <a:r>
              <a:rPr b="0" i="0" lang="en-US" sz="2000" u="none" cap="none" strike="noStrike">
                <a:solidFill>
                  <a:srgbClr val="1E1E1E"/>
                </a:solidFill>
                <a:latin typeface="Quattrocento Sans"/>
                <a:ea typeface="Quattrocento Sans"/>
                <a:cs typeface="Quattrocento Sans"/>
                <a:sym typeface="Quattrocento Sans"/>
              </a:rPr>
              <a:t>, enabling intelligent, risk-informed exploration of transaction networks</a:t>
            </a:r>
            <a:endParaRPr b="0" i="0" sz="2000" u="none" cap="none" strike="noStrike"/>
          </a:p>
        </p:txBody>
      </p:sp>
      <p:sp>
        <p:nvSpPr>
          <p:cNvPr id="34" name="Google Shape;34;p2"/>
          <p:cNvSpPr/>
          <p:nvPr/>
        </p:nvSpPr>
        <p:spPr>
          <a:xfrm>
            <a:off x="9144000" y="1778000"/>
            <a:ext cx="6350000" cy="2286000"/>
          </a:xfrm>
          <a:prstGeom prst="rect">
            <a:avLst/>
          </a:prstGeom>
          <a:solidFill>
            <a:srgbClr val="E8E4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9347200" y="2032000"/>
            <a:ext cx="508000" cy="406400"/>
          </a:xfrm>
          <a:custGeom>
            <a:rect b="b" l="l" r="r" t="t"/>
            <a:pathLst>
              <a:path extrusionOk="0" h="406400" w="508000">
                <a:moveTo>
                  <a:pt x="279400" y="0"/>
                </a:moveTo>
                <a:cubicBezTo>
                  <a:pt x="279400" y="-14049"/>
                  <a:pt x="268049" y="-25400"/>
                  <a:pt x="254000" y="-25400"/>
                </a:cubicBezTo>
                <a:cubicBezTo>
                  <a:pt x="239951" y="-25400"/>
                  <a:pt x="228600" y="-14049"/>
                  <a:pt x="228600" y="0"/>
                </a:cubicBezTo>
                <a:lnTo>
                  <a:pt x="228600" y="50800"/>
                </a:lnTo>
                <a:lnTo>
                  <a:pt x="152400" y="50800"/>
                </a:lnTo>
                <a:cubicBezTo>
                  <a:pt x="110331" y="50800"/>
                  <a:pt x="76200" y="84931"/>
                  <a:pt x="76200" y="127000"/>
                </a:cubicBezTo>
                <a:lnTo>
                  <a:pt x="76200" y="304800"/>
                </a:lnTo>
                <a:cubicBezTo>
                  <a:pt x="76200" y="346869"/>
                  <a:pt x="110331" y="381000"/>
                  <a:pt x="152400" y="381000"/>
                </a:cubicBezTo>
                <a:lnTo>
                  <a:pt x="355600" y="381000"/>
                </a:lnTo>
                <a:cubicBezTo>
                  <a:pt x="397669" y="381000"/>
                  <a:pt x="431800" y="346869"/>
                  <a:pt x="431800" y="304800"/>
                </a:cubicBezTo>
                <a:lnTo>
                  <a:pt x="431800" y="127000"/>
                </a:lnTo>
                <a:cubicBezTo>
                  <a:pt x="431800" y="84931"/>
                  <a:pt x="397669" y="50800"/>
                  <a:pt x="355600" y="50800"/>
                </a:cubicBezTo>
                <a:lnTo>
                  <a:pt x="279400" y="50800"/>
                </a:lnTo>
                <a:lnTo>
                  <a:pt x="279400" y="0"/>
                </a:lnTo>
                <a:close/>
                <a:moveTo>
                  <a:pt x="127000" y="292100"/>
                </a:moveTo>
                <a:cubicBezTo>
                  <a:pt x="127000" y="281543"/>
                  <a:pt x="135493" y="273050"/>
                  <a:pt x="146050" y="273050"/>
                </a:cubicBezTo>
                <a:lnTo>
                  <a:pt x="171450" y="273050"/>
                </a:lnTo>
                <a:cubicBezTo>
                  <a:pt x="182007" y="273050"/>
                  <a:pt x="190500" y="281543"/>
                  <a:pt x="190500" y="292100"/>
                </a:cubicBezTo>
                <a:cubicBezTo>
                  <a:pt x="190500" y="302657"/>
                  <a:pt x="182007" y="311150"/>
                  <a:pt x="171450" y="311150"/>
                </a:cubicBezTo>
                <a:lnTo>
                  <a:pt x="146050" y="311150"/>
                </a:lnTo>
                <a:cubicBezTo>
                  <a:pt x="135493" y="311150"/>
                  <a:pt x="127000" y="302657"/>
                  <a:pt x="127000" y="292100"/>
                </a:cubicBezTo>
                <a:close/>
                <a:moveTo>
                  <a:pt x="222250" y="292100"/>
                </a:moveTo>
                <a:cubicBezTo>
                  <a:pt x="222250" y="281543"/>
                  <a:pt x="230743" y="273050"/>
                  <a:pt x="241300" y="273050"/>
                </a:cubicBezTo>
                <a:lnTo>
                  <a:pt x="266700" y="273050"/>
                </a:lnTo>
                <a:cubicBezTo>
                  <a:pt x="277257" y="273050"/>
                  <a:pt x="285750" y="281543"/>
                  <a:pt x="285750" y="292100"/>
                </a:cubicBezTo>
                <a:cubicBezTo>
                  <a:pt x="285750" y="302657"/>
                  <a:pt x="277257" y="311150"/>
                  <a:pt x="266700" y="311150"/>
                </a:cubicBezTo>
                <a:lnTo>
                  <a:pt x="241300" y="311150"/>
                </a:lnTo>
                <a:cubicBezTo>
                  <a:pt x="230743" y="311150"/>
                  <a:pt x="222250" y="302657"/>
                  <a:pt x="222250" y="292100"/>
                </a:cubicBezTo>
                <a:close/>
                <a:moveTo>
                  <a:pt x="317500" y="292100"/>
                </a:moveTo>
                <a:cubicBezTo>
                  <a:pt x="317500" y="281543"/>
                  <a:pt x="325993" y="273050"/>
                  <a:pt x="336550" y="273050"/>
                </a:cubicBezTo>
                <a:lnTo>
                  <a:pt x="361950" y="273050"/>
                </a:lnTo>
                <a:cubicBezTo>
                  <a:pt x="372507" y="273050"/>
                  <a:pt x="381000" y="281543"/>
                  <a:pt x="381000" y="292100"/>
                </a:cubicBezTo>
                <a:cubicBezTo>
                  <a:pt x="381000" y="302657"/>
                  <a:pt x="372507" y="311150"/>
                  <a:pt x="361950" y="311150"/>
                </a:cubicBezTo>
                <a:lnTo>
                  <a:pt x="336550" y="311150"/>
                </a:lnTo>
                <a:cubicBezTo>
                  <a:pt x="325993" y="311150"/>
                  <a:pt x="317500" y="302657"/>
                  <a:pt x="317500" y="292100"/>
                </a:cubicBezTo>
                <a:close/>
                <a:moveTo>
                  <a:pt x="177800" y="139700"/>
                </a:moveTo>
                <a:cubicBezTo>
                  <a:pt x="198828" y="139700"/>
                  <a:pt x="215900" y="156772"/>
                  <a:pt x="215900" y="177800"/>
                </a:cubicBezTo>
                <a:cubicBezTo>
                  <a:pt x="215900" y="198828"/>
                  <a:pt x="198828" y="215900"/>
                  <a:pt x="177800" y="215900"/>
                </a:cubicBezTo>
                <a:cubicBezTo>
                  <a:pt x="156772" y="215900"/>
                  <a:pt x="139700" y="198828"/>
                  <a:pt x="139700" y="177800"/>
                </a:cubicBezTo>
                <a:cubicBezTo>
                  <a:pt x="139700" y="156772"/>
                  <a:pt x="156772" y="139700"/>
                  <a:pt x="177800" y="139700"/>
                </a:cubicBezTo>
                <a:close/>
                <a:moveTo>
                  <a:pt x="292100" y="177800"/>
                </a:moveTo>
                <a:cubicBezTo>
                  <a:pt x="292100" y="156772"/>
                  <a:pt x="309172" y="139700"/>
                  <a:pt x="330200" y="139700"/>
                </a:cubicBezTo>
                <a:cubicBezTo>
                  <a:pt x="351228" y="139700"/>
                  <a:pt x="368300" y="156772"/>
                  <a:pt x="368300" y="177800"/>
                </a:cubicBezTo>
                <a:cubicBezTo>
                  <a:pt x="368300" y="198828"/>
                  <a:pt x="351228" y="215900"/>
                  <a:pt x="330200" y="215900"/>
                </a:cubicBezTo>
                <a:cubicBezTo>
                  <a:pt x="309172" y="215900"/>
                  <a:pt x="292100" y="198828"/>
                  <a:pt x="292100" y="177800"/>
                </a:cubicBezTo>
                <a:close/>
                <a:moveTo>
                  <a:pt x="50800" y="177800"/>
                </a:moveTo>
                <a:cubicBezTo>
                  <a:pt x="50800" y="163751"/>
                  <a:pt x="39449" y="152400"/>
                  <a:pt x="25400" y="152400"/>
                </a:cubicBezTo>
                <a:cubicBezTo>
                  <a:pt x="11351" y="152400"/>
                  <a:pt x="0" y="163751"/>
                  <a:pt x="0" y="177800"/>
                </a:cubicBezTo>
                <a:lnTo>
                  <a:pt x="0" y="254000"/>
                </a:lnTo>
                <a:cubicBezTo>
                  <a:pt x="0" y="268049"/>
                  <a:pt x="11351" y="279400"/>
                  <a:pt x="25400" y="279400"/>
                </a:cubicBezTo>
                <a:cubicBezTo>
                  <a:pt x="39449" y="279400"/>
                  <a:pt x="50800" y="268049"/>
                  <a:pt x="50800" y="254000"/>
                </a:cubicBezTo>
                <a:lnTo>
                  <a:pt x="50800" y="177800"/>
                </a:lnTo>
                <a:close/>
                <a:moveTo>
                  <a:pt x="482600" y="152400"/>
                </a:moveTo>
                <a:cubicBezTo>
                  <a:pt x="468551" y="152400"/>
                  <a:pt x="457200" y="163751"/>
                  <a:pt x="457200" y="177800"/>
                </a:cubicBezTo>
                <a:lnTo>
                  <a:pt x="457200" y="254000"/>
                </a:lnTo>
                <a:cubicBezTo>
                  <a:pt x="457200" y="268049"/>
                  <a:pt x="468551" y="279400"/>
                  <a:pt x="482600" y="279400"/>
                </a:cubicBezTo>
                <a:cubicBezTo>
                  <a:pt x="496649" y="279400"/>
                  <a:pt x="508000" y="268049"/>
                  <a:pt x="508000" y="254000"/>
                </a:cubicBezTo>
                <a:lnTo>
                  <a:pt x="508000" y="177800"/>
                </a:lnTo>
                <a:cubicBezTo>
                  <a:pt x="508000" y="163751"/>
                  <a:pt x="496649" y="152400"/>
                  <a:pt x="482600" y="152400"/>
                </a:cubicBezTo>
                <a:close/>
              </a:path>
            </a:pathLst>
          </a:custGeom>
          <a:solidFill>
            <a:srgbClr val="1B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9969500" y="1968500"/>
            <a:ext cx="5270500" cy="1905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800" u="none" cap="none" strike="noStrike">
                <a:solidFill>
                  <a:srgbClr val="1E1E1E"/>
                </a:solidFill>
                <a:latin typeface="Quattrocento Sans"/>
                <a:ea typeface="Quattrocento Sans"/>
                <a:cs typeface="Quattrocento Sans"/>
                <a:sym typeface="Quattrocento Sans"/>
              </a:rPr>
              <a:t>ML Only</a:t>
            </a:r>
            <a:endParaRPr b="0" i="0" sz="1800" u="none" cap="none" strike="noStrike"/>
          </a:p>
          <a:p>
            <a:pPr indent="0" lvl="0" marL="0" marR="0" rtl="0" algn="l">
              <a:lnSpc>
                <a:spcPct val="150000"/>
              </a:lnSpc>
              <a:spcBef>
                <a:spcPts val="0"/>
              </a:spcBef>
              <a:spcAft>
                <a:spcPts val="0"/>
              </a:spcAft>
              <a:buNone/>
            </a:pPr>
            <a:r>
              <a:rPr b="0" i="0" lang="en-US" sz="1800" u="none" cap="none" strike="noStrike">
                <a:solidFill>
                  <a:srgbClr val="1E1E1E"/>
                </a:solidFill>
                <a:latin typeface="Quattrocento Sans"/>
                <a:ea typeface="Quattrocento Sans"/>
                <a:cs typeface="Quattrocento Sans"/>
                <a:sym typeface="Quattrocento Sans"/>
              </a:rPr>
              <a:t>Classification of individual transactions without network context</a:t>
            </a:r>
            <a:endParaRPr b="0" i="0" sz="1800" u="none" cap="none" strike="noStrike"/>
          </a:p>
        </p:txBody>
      </p:sp>
      <p:sp>
        <p:nvSpPr>
          <p:cNvPr id="37" name="Google Shape;37;p2"/>
          <p:cNvSpPr/>
          <p:nvPr/>
        </p:nvSpPr>
        <p:spPr>
          <a:xfrm>
            <a:off x="9144000" y="4445000"/>
            <a:ext cx="6350000" cy="2286000"/>
          </a:xfrm>
          <a:prstGeom prst="rect">
            <a:avLst/>
          </a:prstGeom>
          <a:solidFill>
            <a:srgbClr val="E8E4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9398000" y="4699000"/>
            <a:ext cx="406400" cy="406400"/>
          </a:xfrm>
          <a:custGeom>
            <a:rect b="b" l="l" r="r" t="t"/>
            <a:pathLst>
              <a:path extrusionOk="0" h="406400" w="406400">
                <a:moveTo>
                  <a:pt x="332105" y="125333"/>
                </a:moveTo>
                <a:cubicBezTo>
                  <a:pt x="360124" y="118745"/>
                  <a:pt x="381000" y="93583"/>
                  <a:pt x="381000" y="63500"/>
                </a:cubicBezTo>
                <a:cubicBezTo>
                  <a:pt x="381000" y="28416"/>
                  <a:pt x="352584" y="0"/>
                  <a:pt x="317500" y="0"/>
                </a:cubicBezTo>
                <a:cubicBezTo>
                  <a:pt x="283051" y="0"/>
                  <a:pt x="255032" y="27384"/>
                  <a:pt x="254000" y="61516"/>
                </a:cubicBezTo>
                <a:lnTo>
                  <a:pt x="108109" y="119936"/>
                </a:lnTo>
                <a:cubicBezTo>
                  <a:pt x="96599" y="108585"/>
                  <a:pt x="80883" y="101600"/>
                  <a:pt x="63500" y="101600"/>
                </a:cubicBezTo>
                <a:cubicBezTo>
                  <a:pt x="28416" y="101600"/>
                  <a:pt x="0" y="130016"/>
                  <a:pt x="0" y="165100"/>
                </a:cubicBezTo>
                <a:cubicBezTo>
                  <a:pt x="0" y="200184"/>
                  <a:pt x="28416" y="228600"/>
                  <a:pt x="63500" y="228600"/>
                </a:cubicBezTo>
                <a:cubicBezTo>
                  <a:pt x="73184" y="228600"/>
                  <a:pt x="82391" y="226457"/>
                  <a:pt x="90567" y="222567"/>
                </a:cubicBezTo>
                <a:lnTo>
                  <a:pt x="206137" y="323691"/>
                </a:lnTo>
                <a:cubicBezTo>
                  <a:pt x="204232" y="329724"/>
                  <a:pt x="203200" y="336233"/>
                  <a:pt x="203200" y="342900"/>
                </a:cubicBezTo>
                <a:cubicBezTo>
                  <a:pt x="203200" y="377984"/>
                  <a:pt x="231616" y="406400"/>
                  <a:pt x="266700" y="406400"/>
                </a:cubicBezTo>
                <a:cubicBezTo>
                  <a:pt x="301784" y="406400"/>
                  <a:pt x="330200" y="377984"/>
                  <a:pt x="330200" y="342900"/>
                </a:cubicBezTo>
                <a:cubicBezTo>
                  <a:pt x="330200" y="320913"/>
                  <a:pt x="319088" y="301546"/>
                  <a:pt x="302101" y="290195"/>
                </a:cubicBezTo>
                <a:lnTo>
                  <a:pt x="332105" y="125333"/>
                </a:lnTo>
                <a:close/>
                <a:moveTo>
                  <a:pt x="124063" y="184309"/>
                </a:moveTo>
                <a:cubicBezTo>
                  <a:pt x="125809" y="178832"/>
                  <a:pt x="126841" y="173038"/>
                  <a:pt x="127000" y="167084"/>
                </a:cubicBezTo>
                <a:lnTo>
                  <a:pt x="272891" y="108744"/>
                </a:lnTo>
                <a:cubicBezTo>
                  <a:pt x="275749" y="111522"/>
                  <a:pt x="278765" y="114062"/>
                  <a:pt x="282099" y="116284"/>
                </a:cubicBezTo>
                <a:lnTo>
                  <a:pt x="252095" y="281067"/>
                </a:lnTo>
                <a:cubicBezTo>
                  <a:pt x="247729" y="282099"/>
                  <a:pt x="243523" y="283528"/>
                  <a:pt x="239554" y="285433"/>
                </a:cubicBezTo>
                <a:lnTo>
                  <a:pt x="124063" y="184309"/>
                </a:lnTo>
                <a:close/>
              </a:path>
            </a:pathLst>
          </a:custGeom>
          <a:solidFill>
            <a:srgbClr val="1B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9969500" y="4635500"/>
            <a:ext cx="5270500" cy="1905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800" u="none" cap="none" strike="noStrike">
                <a:solidFill>
                  <a:srgbClr val="1E1E1E"/>
                </a:solidFill>
                <a:latin typeface="Quattrocento Sans"/>
                <a:ea typeface="Quattrocento Sans"/>
                <a:cs typeface="Quattrocento Sans"/>
                <a:sym typeface="Quattrocento Sans"/>
              </a:rPr>
              <a:t>Graph Only</a:t>
            </a:r>
            <a:endParaRPr b="0" i="0" sz="1800" u="none" cap="none" strike="noStrike"/>
          </a:p>
          <a:p>
            <a:pPr indent="0" lvl="0" marL="0" marR="0" rtl="0" algn="l">
              <a:lnSpc>
                <a:spcPct val="150000"/>
              </a:lnSpc>
              <a:spcBef>
                <a:spcPts val="0"/>
              </a:spcBef>
              <a:spcAft>
                <a:spcPts val="0"/>
              </a:spcAft>
              <a:buNone/>
            </a:pPr>
            <a:r>
              <a:rPr b="0" i="0" lang="en-US" sz="1800" u="none" cap="none" strike="noStrike">
                <a:solidFill>
                  <a:srgbClr val="1E1E1E"/>
                </a:solidFill>
                <a:latin typeface="Quattrocento Sans"/>
                <a:ea typeface="Quattrocento Sans"/>
                <a:cs typeface="Quattrocento Sans"/>
                <a:sym typeface="Quattrocento Sans"/>
              </a:rPr>
              <a:t>Structural analysis of connections without predictive risk scoring</a:t>
            </a:r>
            <a:endParaRPr b="0" i="0" sz="1800" u="none" cap="none" strike="noStrike"/>
          </a:p>
        </p:txBody>
      </p:sp>
      <p:sp>
        <p:nvSpPr>
          <p:cNvPr id="40" name="Google Shape;40;p2"/>
          <p:cNvSpPr/>
          <p:nvPr/>
        </p:nvSpPr>
        <p:spPr>
          <a:xfrm>
            <a:off x="12128500" y="4089400"/>
            <a:ext cx="381000" cy="33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2000" u="none" cap="none" strike="noStrike">
                <a:solidFill>
                  <a:srgbClr val="D4A017"/>
                </a:solidFill>
                <a:latin typeface="Quattrocento Sans"/>
                <a:ea typeface="Quattrocento Sans"/>
                <a:cs typeface="Quattrocento Sans"/>
                <a:sym typeface="Quattrocento Sans"/>
              </a:rPr>
              <a:t>+</a:t>
            </a:r>
            <a:endParaRPr b="0" i="0" sz="1600" u="none" cap="none" strike="noStrike"/>
          </a:p>
        </p:txBody>
      </p:sp>
      <p:sp>
        <p:nvSpPr>
          <p:cNvPr id="41" name="Google Shape;41;p2"/>
          <p:cNvSpPr/>
          <p:nvPr/>
        </p:nvSpPr>
        <p:spPr>
          <a:xfrm>
            <a:off x="14986000" y="8763000"/>
            <a:ext cx="1016000" cy="254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t/>
            </a:r>
            <a:endParaRPr b="0" i="0" sz="1200" u="none" cap="none" strike="noStrike"/>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F"/>
        </a:solidFill>
      </p:bgPr>
    </p:bg>
    <p:spTree>
      <p:nvGrpSpPr>
        <p:cNvPr id="46" name="Shape 46"/>
        <p:cNvGrpSpPr/>
        <p:nvPr/>
      </p:nvGrpSpPr>
      <p:grpSpPr>
        <a:xfrm>
          <a:off x="0" y="0"/>
          <a:ext cx="0" cy="0"/>
          <a:chOff x="0" y="0"/>
          <a:chExt cx="0" cy="0"/>
        </a:xfrm>
      </p:grpSpPr>
      <p:sp>
        <p:nvSpPr>
          <p:cNvPr id="47" name="Google Shape;47;p4"/>
          <p:cNvSpPr/>
          <p:nvPr/>
        </p:nvSpPr>
        <p:spPr>
          <a:xfrm>
            <a:off x="0" y="0"/>
            <a:ext cx="16256000" cy="508000"/>
          </a:xfrm>
          <a:prstGeom prst="rect">
            <a:avLst/>
          </a:prstGeom>
          <a:solidFill>
            <a:srgbClr val="1B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762000" y="698500"/>
            <a:ext cx="7620000" cy="50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1B3A4B"/>
                </a:solidFill>
                <a:latin typeface="Quattrocento Sans"/>
                <a:ea typeface="Quattrocento Sans"/>
                <a:cs typeface="Quattrocento Sans"/>
                <a:sym typeface="Quattrocento Sans"/>
              </a:rPr>
              <a:t>Dataset</a:t>
            </a:r>
            <a:endParaRPr b="0" i="0" sz="2800" u="none" cap="none" strike="noStrike"/>
          </a:p>
        </p:txBody>
      </p:sp>
      <p:sp>
        <p:nvSpPr>
          <p:cNvPr id="49" name="Google Shape;49;p4"/>
          <p:cNvSpPr/>
          <p:nvPr/>
        </p:nvSpPr>
        <p:spPr>
          <a:xfrm>
            <a:off x="762000" y="1270000"/>
            <a:ext cx="1016000" cy="38100"/>
          </a:xfrm>
          <a:prstGeom prst="rect">
            <a:avLst/>
          </a:prstGeom>
          <a:solidFill>
            <a:srgbClr val="D4A0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50" name="Google Shape;50;p4"/>
          <p:cNvGraphicFramePr/>
          <p:nvPr/>
        </p:nvGraphicFramePr>
        <p:xfrm>
          <a:off x="762000" y="1651000"/>
          <a:ext cx="3000000" cy="3000000"/>
        </p:xfrm>
        <a:graphic>
          <a:graphicData uri="http://schemas.openxmlformats.org/drawingml/2006/table">
            <a:tbl>
              <a:tblPr>
                <a:noFill/>
                <a:tableStyleId>{587C0237-DA9E-4662-9322-4A2B85B3CDDC}</a:tableStyleId>
              </a:tblPr>
              <a:tblGrid>
                <a:gridCol w="2667000"/>
                <a:gridCol w="4953000"/>
              </a:tblGrid>
              <a:tr h="592675">
                <a:tc>
                  <a:txBody>
                    <a:bodyPr/>
                    <a:lstStyle/>
                    <a:p>
                      <a:pPr indent="0" lvl="0" marL="0" marR="0" rtl="0" algn="l">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Attribute</a:t>
                      </a:r>
                      <a:endParaRPr sz="1600" u="none" cap="none" strike="noStrike">
                        <a:latin typeface="Quattrocento Sans"/>
                        <a:ea typeface="Quattrocento Sans"/>
                        <a:cs typeface="Quattrocento Sans"/>
                        <a:sym typeface="Quattrocento Sans"/>
                      </a:endParaRPr>
                    </a:p>
                  </a:txBody>
                  <a:tcPr marT="0" marB="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B3A4B"/>
                      </a:solidFill>
                      <a:prstDash val="solid"/>
                      <a:round/>
                      <a:headEnd len="sm" w="sm" type="none"/>
                      <a:tailEnd len="sm" w="sm" type="none"/>
                    </a:lnT>
                    <a:lnB cap="flat" cmpd="sng" w="12700">
                      <a:solidFill>
                        <a:srgbClr val="D5D0C8"/>
                      </a:solidFill>
                      <a:prstDash val="solid"/>
                      <a:round/>
                      <a:headEnd len="sm" w="sm" type="none"/>
                      <a:tailEnd len="sm" w="sm" type="none"/>
                    </a:lnB>
                    <a:solidFill>
                      <a:srgbClr val="1B3A4B"/>
                    </a:solidFill>
                  </a:tcPr>
                </a:tc>
                <a:tc>
                  <a:txBody>
                    <a:bodyPr/>
                    <a:lstStyle/>
                    <a:p>
                      <a:pPr indent="0" lvl="0" marL="0" marR="0" rtl="0" algn="l">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Description</a:t>
                      </a:r>
                      <a:endParaRPr sz="1600" u="none" cap="none" strike="noStrike">
                        <a:latin typeface="Quattrocento Sans"/>
                        <a:ea typeface="Quattrocento Sans"/>
                        <a:cs typeface="Quattrocento Sans"/>
                        <a:sym typeface="Quattrocento Sans"/>
                      </a:endParaRPr>
                    </a:p>
                  </a:txBody>
                  <a:tcPr marT="0" marB="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5400">
                      <a:solidFill>
                        <a:srgbClr val="1B3A4B"/>
                      </a:solidFill>
                      <a:prstDash val="solid"/>
                      <a:round/>
                      <a:headEnd len="sm" w="sm" type="none"/>
                      <a:tailEnd len="sm" w="sm" type="none"/>
                    </a:lnT>
                    <a:lnB cap="flat" cmpd="sng" w="12700">
                      <a:solidFill>
                        <a:srgbClr val="D5D0C8"/>
                      </a:solidFill>
                      <a:prstDash val="solid"/>
                      <a:round/>
                      <a:headEnd len="sm" w="sm" type="none"/>
                      <a:tailEnd len="sm" w="sm" type="none"/>
                    </a:lnB>
                    <a:solidFill>
                      <a:srgbClr val="1B3A4B"/>
                    </a:solidFill>
                  </a:tcPr>
                </a:tc>
              </a:tr>
              <a:tr h="592675">
                <a:tc>
                  <a:txBody>
                    <a:bodyPr/>
                    <a:lstStyle/>
                    <a:p>
                      <a:pPr indent="0" lvl="0" marL="0" marR="0" rtl="0" algn="l">
                        <a:spcBef>
                          <a:spcPts val="0"/>
                        </a:spcBef>
                        <a:spcAft>
                          <a:spcPts val="0"/>
                        </a:spcAft>
                        <a:buNone/>
                      </a:pPr>
                      <a:r>
                        <a:rPr lang="en-US" sz="1600" u="none" cap="none" strike="noStrike">
                          <a:solidFill>
                            <a:srgbClr val="1E1E1E"/>
                          </a:solidFill>
                          <a:latin typeface="Quattrocento Sans"/>
                          <a:ea typeface="Quattrocento Sans"/>
                          <a:cs typeface="Quattrocento Sans"/>
                          <a:sym typeface="Quattrocento Sans"/>
                        </a:rPr>
                        <a:t>customer</a:t>
                      </a:r>
                      <a:endParaRPr sz="1600" u="none" cap="none" strike="noStrike">
                        <a:latin typeface="Quattrocento Sans"/>
                        <a:ea typeface="Quattrocento Sans"/>
                        <a:cs typeface="Quattrocento Sans"/>
                        <a:sym typeface="Quattrocento Sans"/>
                      </a:endParaRPr>
                    </a:p>
                  </a:txBody>
                  <a:tcPr marT="0" marB="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5D0C8"/>
                      </a:solidFill>
                      <a:prstDash val="solid"/>
                      <a:round/>
                      <a:headEnd len="sm" w="sm" type="none"/>
                      <a:tailEnd len="sm" w="sm" type="none"/>
                    </a:lnT>
                    <a:lnB cap="flat" cmpd="sng" w="12700">
                      <a:solidFill>
                        <a:srgbClr val="D5D0C8"/>
                      </a:solidFill>
                      <a:prstDash val="solid"/>
                      <a:round/>
                      <a:headEnd len="sm" w="sm" type="none"/>
                      <a:tailEnd len="sm" w="sm" type="none"/>
                    </a:lnB>
                    <a:solidFill>
                      <a:srgbClr val="F5F3EF"/>
                    </a:solidFill>
                  </a:tcPr>
                </a:tc>
                <a:tc>
                  <a:txBody>
                    <a:bodyPr/>
                    <a:lstStyle/>
                    <a:p>
                      <a:pPr indent="0" lvl="0" marL="0" marR="0" rtl="0" algn="l">
                        <a:spcBef>
                          <a:spcPts val="0"/>
                        </a:spcBef>
                        <a:spcAft>
                          <a:spcPts val="0"/>
                        </a:spcAft>
                        <a:buNone/>
                      </a:pPr>
                      <a:r>
                        <a:rPr lang="en-US" sz="1600" u="none" cap="none" strike="noStrike">
                          <a:solidFill>
                            <a:srgbClr val="1E1E1E"/>
                          </a:solidFill>
                          <a:latin typeface="Quattrocento Sans"/>
                          <a:ea typeface="Quattrocento Sans"/>
                          <a:cs typeface="Quattrocento Sans"/>
                          <a:sym typeface="Quattrocento Sans"/>
                        </a:rPr>
                        <a:t>Customer identifier</a:t>
                      </a:r>
                      <a:endParaRPr sz="1600" u="none" cap="none" strike="noStrike">
                        <a:latin typeface="Quattrocento Sans"/>
                        <a:ea typeface="Quattrocento Sans"/>
                        <a:cs typeface="Quattrocento Sans"/>
                        <a:sym typeface="Quattrocento Sans"/>
                      </a:endParaRPr>
                    </a:p>
                  </a:txBody>
                  <a:tcPr marT="0" marB="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5D0C8"/>
                      </a:solidFill>
                      <a:prstDash val="solid"/>
                      <a:round/>
                      <a:headEnd len="sm" w="sm" type="none"/>
                      <a:tailEnd len="sm" w="sm" type="none"/>
                    </a:lnT>
                    <a:lnB cap="flat" cmpd="sng" w="12700">
                      <a:solidFill>
                        <a:srgbClr val="D5D0C8"/>
                      </a:solidFill>
                      <a:prstDash val="solid"/>
                      <a:round/>
                      <a:headEnd len="sm" w="sm" type="none"/>
                      <a:tailEnd len="sm" w="sm" type="none"/>
                    </a:lnB>
                    <a:solidFill>
                      <a:srgbClr val="F5F3EF"/>
                    </a:solidFill>
                  </a:tcPr>
                </a:tc>
              </a:tr>
              <a:tr h="592675">
                <a:tc>
                  <a:txBody>
                    <a:bodyPr/>
                    <a:lstStyle/>
                    <a:p>
                      <a:pPr indent="0" lvl="0" marL="0" marR="0" rtl="0" algn="l">
                        <a:spcBef>
                          <a:spcPts val="0"/>
                        </a:spcBef>
                        <a:spcAft>
                          <a:spcPts val="0"/>
                        </a:spcAft>
                        <a:buNone/>
                      </a:pPr>
                      <a:r>
                        <a:rPr lang="en-US" sz="1600" u="none" cap="none" strike="noStrike">
                          <a:solidFill>
                            <a:srgbClr val="1E1E1E"/>
                          </a:solidFill>
                          <a:latin typeface="Quattrocento Sans"/>
                          <a:ea typeface="Quattrocento Sans"/>
                          <a:cs typeface="Quattrocento Sans"/>
                          <a:sym typeface="Quattrocento Sans"/>
                        </a:rPr>
                        <a:t>merchant</a:t>
                      </a:r>
                      <a:endParaRPr sz="1600" u="none" cap="none" strike="noStrike">
                        <a:latin typeface="Quattrocento Sans"/>
                        <a:ea typeface="Quattrocento Sans"/>
                        <a:cs typeface="Quattrocento Sans"/>
                        <a:sym typeface="Quattrocento Sans"/>
                      </a:endParaRPr>
                    </a:p>
                  </a:txBody>
                  <a:tcPr marT="0" marB="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5D0C8"/>
                      </a:solidFill>
                      <a:prstDash val="solid"/>
                      <a:round/>
                      <a:headEnd len="sm" w="sm" type="none"/>
                      <a:tailEnd len="sm" w="sm" type="none"/>
                    </a:lnT>
                    <a:lnB cap="flat" cmpd="sng" w="12700">
                      <a:solidFill>
                        <a:srgbClr val="D5D0C8"/>
                      </a:solidFill>
                      <a:prstDash val="solid"/>
                      <a:round/>
                      <a:headEnd len="sm" w="sm" type="none"/>
                      <a:tailEnd len="sm" w="sm" type="none"/>
                    </a:lnB>
                    <a:solidFill>
                      <a:srgbClr val="E8E4DE"/>
                    </a:solidFill>
                  </a:tcPr>
                </a:tc>
                <a:tc>
                  <a:txBody>
                    <a:bodyPr/>
                    <a:lstStyle/>
                    <a:p>
                      <a:pPr indent="0" lvl="0" marL="0" marR="0" rtl="0" algn="l">
                        <a:spcBef>
                          <a:spcPts val="0"/>
                        </a:spcBef>
                        <a:spcAft>
                          <a:spcPts val="0"/>
                        </a:spcAft>
                        <a:buNone/>
                      </a:pPr>
                      <a:r>
                        <a:rPr lang="en-US" sz="1600" u="none" cap="none" strike="noStrike">
                          <a:solidFill>
                            <a:srgbClr val="1E1E1E"/>
                          </a:solidFill>
                          <a:latin typeface="Quattrocento Sans"/>
                          <a:ea typeface="Quattrocento Sans"/>
                          <a:cs typeface="Quattrocento Sans"/>
                          <a:sym typeface="Quattrocento Sans"/>
                        </a:rPr>
                        <a:t>Merchant identifier</a:t>
                      </a:r>
                      <a:endParaRPr sz="1600" u="none" cap="none" strike="noStrike">
                        <a:latin typeface="Quattrocento Sans"/>
                        <a:ea typeface="Quattrocento Sans"/>
                        <a:cs typeface="Quattrocento Sans"/>
                        <a:sym typeface="Quattrocento Sans"/>
                      </a:endParaRPr>
                    </a:p>
                  </a:txBody>
                  <a:tcPr marT="0" marB="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5D0C8"/>
                      </a:solidFill>
                      <a:prstDash val="solid"/>
                      <a:round/>
                      <a:headEnd len="sm" w="sm" type="none"/>
                      <a:tailEnd len="sm" w="sm" type="none"/>
                    </a:lnT>
                    <a:lnB cap="flat" cmpd="sng" w="12700">
                      <a:solidFill>
                        <a:srgbClr val="D5D0C8"/>
                      </a:solidFill>
                      <a:prstDash val="solid"/>
                      <a:round/>
                      <a:headEnd len="sm" w="sm" type="none"/>
                      <a:tailEnd len="sm" w="sm" type="none"/>
                    </a:lnB>
                    <a:solidFill>
                      <a:srgbClr val="E8E4DE"/>
                    </a:solidFill>
                  </a:tcPr>
                </a:tc>
              </a:tr>
              <a:tr h="592675">
                <a:tc>
                  <a:txBody>
                    <a:bodyPr/>
                    <a:lstStyle/>
                    <a:p>
                      <a:pPr indent="0" lvl="0" marL="0" marR="0" rtl="0" algn="l">
                        <a:spcBef>
                          <a:spcPts val="0"/>
                        </a:spcBef>
                        <a:spcAft>
                          <a:spcPts val="0"/>
                        </a:spcAft>
                        <a:buNone/>
                      </a:pPr>
                      <a:r>
                        <a:rPr lang="en-US" sz="1600" u="none" cap="none" strike="noStrike">
                          <a:solidFill>
                            <a:srgbClr val="1E1E1E"/>
                          </a:solidFill>
                          <a:latin typeface="Quattrocento Sans"/>
                          <a:ea typeface="Quattrocento Sans"/>
                          <a:cs typeface="Quattrocento Sans"/>
                          <a:sym typeface="Quattrocento Sans"/>
                        </a:rPr>
                        <a:t>amount</a:t>
                      </a:r>
                      <a:endParaRPr sz="1600" u="none" cap="none" strike="noStrike">
                        <a:latin typeface="Quattrocento Sans"/>
                        <a:ea typeface="Quattrocento Sans"/>
                        <a:cs typeface="Quattrocento Sans"/>
                        <a:sym typeface="Quattrocento Sans"/>
                      </a:endParaRPr>
                    </a:p>
                  </a:txBody>
                  <a:tcPr marT="0" marB="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5D0C8"/>
                      </a:solidFill>
                      <a:prstDash val="solid"/>
                      <a:round/>
                      <a:headEnd len="sm" w="sm" type="none"/>
                      <a:tailEnd len="sm" w="sm" type="none"/>
                    </a:lnT>
                    <a:lnB cap="flat" cmpd="sng" w="12700">
                      <a:solidFill>
                        <a:srgbClr val="D5D0C8"/>
                      </a:solidFill>
                      <a:prstDash val="solid"/>
                      <a:round/>
                      <a:headEnd len="sm" w="sm" type="none"/>
                      <a:tailEnd len="sm" w="sm" type="none"/>
                    </a:lnB>
                    <a:solidFill>
                      <a:srgbClr val="F5F3EF"/>
                    </a:solidFill>
                  </a:tcPr>
                </a:tc>
                <a:tc>
                  <a:txBody>
                    <a:bodyPr/>
                    <a:lstStyle/>
                    <a:p>
                      <a:pPr indent="0" lvl="0" marL="0" marR="0" rtl="0" algn="l">
                        <a:spcBef>
                          <a:spcPts val="0"/>
                        </a:spcBef>
                        <a:spcAft>
                          <a:spcPts val="0"/>
                        </a:spcAft>
                        <a:buNone/>
                      </a:pPr>
                      <a:r>
                        <a:rPr lang="en-US" sz="1600" u="none" cap="none" strike="noStrike">
                          <a:solidFill>
                            <a:srgbClr val="1E1E1E"/>
                          </a:solidFill>
                          <a:latin typeface="Quattrocento Sans"/>
                          <a:ea typeface="Quattrocento Sans"/>
                          <a:cs typeface="Quattrocento Sans"/>
                          <a:sym typeface="Quattrocento Sans"/>
                        </a:rPr>
                        <a:t>Transaction amount</a:t>
                      </a:r>
                      <a:endParaRPr sz="1600" u="none" cap="none" strike="noStrike">
                        <a:latin typeface="Quattrocento Sans"/>
                        <a:ea typeface="Quattrocento Sans"/>
                        <a:cs typeface="Quattrocento Sans"/>
                        <a:sym typeface="Quattrocento Sans"/>
                      </a:endParaRPr>
                    </a:p>
                  </a:txBody>
                  <a:tcPr marT="0" marB="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5D0C8"/>
                      </a:solidFill>
                      <a:prstDash val="solid"/>
                      <a:round/>
                      <a:headEnd len="sm" w="sm" type="none"/>
                      <a:tailEnd len="sm" w="sm" type="none"/>
                    </a:lnT>
                    <a:lnB cap="flat" cmpd="sng" w="12700">
                      <a:solidFill>
                        <a:srgbClr val="D5D0C8"/>
                      </a:solidFill>
                      <a:prstDash val="solid"/>
                      <a:round/>
                      <a:headEnd len="sm" w="sm" type="none"/>
                      <a:tailEnd len="sm" w="sm" type="none"/>
                    </a:lnB>
                    <a:solidFill>
                      <a:srgbClr val="F5F3EF"/>
                    </a:solidFill>
                  </a:tcPr>
                </a:tc>
              </a:tr>
              <a:tr h="592675">
                <a:tc>
                  <a:txBody>
                    <a:bodyPr/>
                    <a:lstStyle/>
                    <a:p>
                      <a:pPr indent="0" lvl="0" marL="0" marR="0" rtl="0" algn="l">
                        <a:spcBef>
                          <a:spcPts val="0"/>
                        </a:spcBef>
                        <a:spcAft>
                          <a:spcPts val="0"/>
                        </a:spcAft>
                        <a:buNone/>
                      </a:pPr>
                      <a:r>
                        <a:rPr lang="en-US" sz="1600" u="none" cap="none" strike="noStrike">
                          <a:solidFill>
                            <a:srgbClr val="1E1E1E"/>
                          </a:solidFill>
                          <a:latin typeface="Quattrocento Sans"/>
                          <a:ea typeface="Quattrocento Sans"/>
                          <a:cs typeface="Quattrocento Sans"/>
                          <a:sym typeface="Quattrocento Sans"/>
                        </a:rPr>
                        <a:t>category</a:t>
                      </a:r>
                      <a:endParaRPr sz="1600" u="none" cap="none" strike="noStrike">
                        <a:latin typeface="Quattrocento Sans"/>
                        <a:ea typeface="Quattrocento Sans"/>
                        <a:cs typeface="Quattrocento Sans"/>
                        <a:sym typeface="Quattrocento Sans"/>
                      </a:endParaRPr>
                    </a:p>
                  </a:txBody>
                  <a:tcPr marT="0" marB="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5D0C8"/>
                      </a:solidFill>
                      <a:prstDash val="solid"/>
                      <a:round/>
                      <a:headEnd len="sm" w="sm" type="none"/>
                      <a:tailEnd len="sm" w="sm" type="none"/>
                    </a:lnT>
                    <a:lnB cap="flat" cmpd="sng" w="12700">
                      <a:solidFill>
                        <a:srgbClr val="D5D0C8"/>
                      </a:solidFill>
                      <a:prstDash val="solid"/>
                      <a:round/>
                      <a:headEnd len="sm" w="sm" type="none"/>
                      <a:tailEnd len="sm" w="sm" type="none"/>
                    </a:lnB>
                    <a:solidFill>
                      <a:srgbClr val="E8E4DE"/>
                    </a:solidFill>
                  </a:tcPr>
                </a:tc>
                <a:tc>
                  <a:txBody>
                    <a:bodyPr/>
                    <a:lstStyle/>
                    <a:p>
                      <a:pPr indent="0" lvl="0" marL="0" marR="0" rtl="0" algn="l">
                        <a:spcBef>
                          <a:spcPts val="0"/>
                        </a:spcBef>
                        <a:spcAft>
                          <a:spcPts val="0"/>
                        </a:spcAft>
                        <a:buNone/>
                      </a:pPr>
                      <a:r>
                        <a:rPr lang="en-US" sz="1600" u="none" cap="none" strike="noStrike">
                          <a:solidFill>
                            <a:srgbClr val="1E1E1E"/>
                          </a:solidFill>
                          <a:latin typeface="Quattrocento Sans"/>
                          <a:ea typeface="Quattrocento Sans"/>
                          <a:cs typeface="Quattrocento Sans"/>
                          <a:sym typeface="Quattrocento Sans"/>
                        </a:rPr>
                        <a:t>Transaction category</a:t>
                      </a:r>
                      <a:endParaRPr sz="1600" u="none" cap="none" strike="noStrike">
                        <a:latin typeface="Quattrocento Sans"/>
                        <a:ea typeface="Quattrocento Sans"/>
                        <a:cs typeface="Quattrocento Sans"/>
                        <a:sym typeface="Quattrocento Sans"/>
                      </a:endParaRPr>
                    </a:p>
                  </a:txBody>
                  <a:tcPr marT="0" marB="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5D0C8"/>
                      </a:solidFill>
                      <a:prstDash val="solid"/>
                      <a:round/>
                      <a:headEnd len="sm" w="sm" type="none"/>
                      <a:tailEnd len="sm" w="sm" type="none"/>
                    </a:lnT>
                    <a:lnB cap="flat" cmpd="sng" w="12700">
                      <a:solidFill>
                        <a:srgbClr val="D5D0C8"/>
                      </a:solidFill>
                      <a:prstDash val="solid"/>
                      <a:round/>
                      <a:headEnd len="sm" w="sm" type="none"/>
                      <a:tailEnd len="sm" w="sm" type="none"/>
                    </a:lnB>
                    <a:solidFill>
                      <a:srgbClr val="E8E4DE"/>
                    </a:solidFill>
                  </a:tcPr>
                </a:tc>
              </a:tr>
              <a:tr h="592675">
                <a:tc>
                  <a:txBody>
                    <a:bodyPr/>
                    <a:lstStyle/>
                    <a:p>
                      <a:pPr indent="0" lvl="0" marL="0" marR="0" rtl="0" algn="l">
                        <a:spcBef>
                          <a:spcPts val="0"/>
                        </a:spcBef>
                        <a:spcAft>
                          <a:spcPts val="0"/>
                        </a:spcAft>
                        <a:buNone/>
                      </a:pPr>
                      <a:r>
                        <a:rPr lang="en-US" sz="1600" u="none" cap="none" strike="noStrike">
                          <a:solidFill>
                            <a:srgbClr val="1E1E1E"/>
                          </a:solidFill>
                          <a:latin typeface="Quattrocento Sans"/>
                          <a:ea typeface="Quattrocento Sans"/>
                          <a:cs typeface="Quattrocento Sans"/>
                          <a:sym typeface="Quattrocento Sans"/>
                        </a:rPr>
                        <a:t>fraud</a:t>
                      </a:r>
                      <a:endParaRPr sz="1600" u="none" cap="none" strike="noStrike">
                        <a:latin typeface="Quattrocento Sans"/>
                        <a:ea typeface="Quattrocento Sans"/>
                        <a:cs typeface="Quattrocento Sans"/>
                        <a:sym typeface="Quattrocento Sans"/>
                      </a:endParaRPr>
                    </a:p>
                  </a:txBody>
                  <a:tcPr marT="0" marB="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5D0C8"/>
                      </a:solidFill>
                      <a:prstDash val="solid"/>
                      <a:round/>
                      <a:headEnd len="sm" w="sm" type="none"/>
                      <a:tailEnd len="sm" w="sm" type="none"/>
                    </a:lnT>
                    <a:lnB cap="flat" cmpd="sng" w="12700">
                      <a:solidFill>
                        <a:srgbClr val="D5D0C8"/>
                      </a:solidFill>
                      <a:prstDash val="solid"/>
                      <a:round/>
                      <a:headEnd len="sm" w="sm" type="none"/>
                      <a:tailEnd len="sm" w="sm" type="none"/>
                    </a:lnB>
                    <a:solidFill>
                      <a:srgbClr val="F5F3EF"/>
                    </a:solidFill>
                  </a:tcPr>
                </a:tc>
                <a:tc>
                  <a:txBody>
                    <a:bodyPr/>
                    <a:lstStyle/>
                    <a:p>
                      <a:pPr indent="0" lvl="0" marL="0" marR="0" rtl="0" algn="l">
                        <a:spcBef>
                          <a:spcPts val="0"/>
                        </a:spcBef>
                        <a:spcAft>
                          <a:spcPts val="0"/>
                        </a:spcAft>
                        <a:buNone/>
                      </a:pPr>
                      <a:r>
                        <a:rPr lang="en-US" sz="1600" u="none" cap="none" strike="noStrike">
                          <a:solidFill>
                            <a:srgbClr val="1E1E1E"/>
                          </a:solidFill>
                          <a:latin typeface="Quattrocento Sans"/>
                          <a:ea typeface="Quattrocento Sans"/>
                          <a:cs typeface="Quattrocento Sans"/>
                          <a:sym typeface="Quattrocento Sans"/>
                        </a:rPr>
                        <a:t>Binary fraud label</a:t>
                      </a:r>
                      <a:endParaRPr sz="1600" u="none" cap="none" strike="noStrike">
                        <a:latin typeface="Quattrocento Sans"/>
                        <a:ea typeface="Quattrocento Sans"/>
                        <a:cs typeface="Quattrocento Sans"/>
                        <a:sym typeface="Quattrocento Sans"/>
                      </a:endParaRPr>
                    </a:p>
                  </a:txBody>
                  <a:tcPr marT="0" marB="0"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D5D0C8"/>
                      </a:solidFill>
                      <a:prstDash val="solid"/>
                      <a:round/>
                      <a:headEnd len="sm" w="sm" type="none"/>
                      <a:tailEnd len="sm" w="sm" type="none"/>
                    </a:lnT>
                    <a:lnB cap="flat" cmpd="sng" w="12700">
                      <a:solidFill>
                        <a:srgbClr val="D5D0C8"/>
                      </a:solidFill>
                      <a:prstDash val="solid"/>
                      <a:round/>
                      <a:headEnd len="sm" w="sm" type="none"/>
                      <a:tailEnd len="sm" w="sm" type="none"/>
                    </a:lnB>
                    <a:solidFill>
                      <a:srgbClr val="F5F3EF"/>
                    </a:solidFill>
                  </a:tcPr>
                </a:tc>
              </a:tr>
            </a:tbl>
          </a:graphicData>
        </a:graphic>
      </p:graphicFrame>
      <p:sp>
        <p:nvSpPr>
          <p:cNvPr id="51" name="Google Shape;51;p4"/>
          <p:cNvSpPr/>
          <p:nvPr/>
        </p:nvSpPr>
        <p:spPr>
          <a:xfrm>
            <a:off x="762000" y="5588000"/>
            <a:ext cx="8033400" cy="27939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1" i="0" lang="en-US" sz="2000" u="none" cap="none" strike="noStrike">
                <a:solidFill>
                  <a:srgbClr val="1E1E1E"/>
                </a:solidFill>
                <a:latin typeface="Quattrocento Sans"/>
                <a:ea typeface="Quattrocento Sans"/>
                <a:cs typeface="Quattrocento Sans"/>
                <a:sym typeface="Quattrocento Sans"/>
              </a:rPr>
              <a:t>BankSim Dataset</a:t>
            </a:r>
            <a:endParaRPr b="1" sz="2000">
              <a:solidFill>
                <a:srgbClr val="1E1E1E"/>
              </a:solidFill>
              <a:latin typeface="Quattrocento Sans"/>
              <a:ea typeface="Quattrocento Sans"/>
              <a:cs typeface="Quattrocento Sans"/>
              <a:sym typeface="Quattrocento Sans"/>
            </a:endParaRPr>
          </a:p>
          <a:p>
            <a:pPr indent="0" lvl="0" marL="0" marR="0" rtl="0" algn="l">
              <a:lnSpc>
                <a:spcPct val="160000"/>
              </a:lnSpc>
              <a:spcBef>
                <a:spcPts val="1000"/>
              </a:spcBef>
              <a:spcAft>
                <a:spcPts val="0"/>
              </a:spcAft>
              <a:buNone/>
            </a:pPr>
            <a:r>
              <a:rPr lang="en-US" sz="2000">
                <a:solidFill>
                  <a:srgbClr val="1E1E1E"/>
                </a:solidFill>
                <a:latin typeface="Quattrocento Sans"/>
                <a:ea typeface="Quattrocento Sans"/>
                <a:cs typeface="Quattrocento Sans"/>
                <a:sym typeface="Quattrocento Sans"/>
              </a:rPr>
              <a:t>Widely used synthetic dataset for fraud detection research</a:t>
            </a:r>
            <a:endParaRPr sz="2000">
              <a:solidFill>
                <a:srgbClr val="1E1E1E"/>
              </a:solidFill>
              <a:latin typeface="Quattrocento Sans"/>
              <a:ea typeface="Quattrocento Sans"/>
              <a:cs typeface="Quattrocento Sans"/>
              <a:sym typeface="Quattrocento Sans"/>
            </a:endParaRPr>
          </a:p>
          <a:p>
            <a:pPr indent="0" lvl="0" marL="0" marR="0" rtl="0" algn="l">
              <a:lnSpc>
                <a:spcPct val="160000"/>
              </a:lnSpc>
              <a:spcBef>
                <a:spcPts val="1000"/>
              </a:spcBef>
              <a:spcAft>
                <a:spcPts val="0"/>
              </a:spcAft>
              <a:buNone/>
            </a:pPr>
            <a:r>
              <a:rPr b="0" i="0" lang="en-US" sz="2000" u="none" cap="none" strike="noStrike">
                <a:solidFill>
                  <a:srgbClr val="1E1E1E"/>
                </a:solidFill>
                <a:latin typeface="Quattrocento Sans"/>
                <a:ea typeface="Quattrocento Sans"/>
                <a:cs typeface="Quattrocento Sans"/>
                <a:sym typeface="Quattrocento Sans"/>
              </a:rPr>
              <a:t>Synthetic financial transactions with fraud labels</a:t>
            </a:r>
            <a:endParaRPr b="0" i="0" sz="2000" u="none" cap="none" strike="noStrike"/>
          </a:p>
          <a:p>
            <a:pPr indent="0" lvl="0" marL="0" marR="0" rtl="0" algn="l">
              <a:lnSpc>
                <a:spcPct val="160000"/>
              </a:lnSpc>
              <a:spcBef>
                <a:spcPts val="1000"/>
              </a:spcBef>
              <a:spcAft>
                <a:spcPts val="0"/>
              </a:spcAft>
              <a:buNone/>
            </a:pPr>
            <a:r>
              <a:rPr b="1" i="0" lang="en-US" sz="2000" u="none" cap="none" strike="noStrike">
                <a:solidFill>
                  <a:srgbClr val="D4A017"/>
                </a:solidFill>
                <a:latin typeface="Quattrocento Sans"/>
                <a:ea typeface="Quattrocento Sans"/>
                <a:cs typeface="Quattrocento Sans"/>
                <a:sym typeface="Quattrocento Sans"/>
              </a:rPr>
              <a:t>Sampling:</a:t>
            </a:r>
            <a:r>
              <a:rPr b="0" i="0" lang="en-US" sz="2000" u="none" cap="none" strike="noStrike">
                <a:solidFill>
                  <a:srgbClr val="1E1E1E"/>
                </a:solidFill>
                <a:latin typeface="Quattrocento Sans"/>
                <a:ea typeface="Quattrocento Sans"/>
                <a:cs typeface="Quattrocento Sans"/>
                <a:sym typeface="Quattrocento Sans"/>
              </a:rPr>
              <a:t> Reduced </a:t>
            </a:r>
            <a:r>
              <a:rPr lang="en-US" sz="2000">
                <a:solidFill>
                  <a:srgbClr val="1E1E1E"/>
                </a:solidFill>
                <a:latin typeface="Quattrocento Sans"/>
                <a:ea typeface="Quattrocento Sans"/>
                <a:cs typeface="Quattrocento Sans"/>
                <a:sym typeface="Quattrocento Sans"/>
              </a:rPr>
              <a:t>from about </a:t>
            </a:r>
            <a:r>
              <a:rPr b="0" i="0" lang="en-US" sz="2000" u="none" cap="none" strike="noStrike">
                <a:solidFill>
                  <a:srgbClr val="1E1E1E"/>
                </a:solidFill>
                <a:latin typeface="Quattrocento Sans"/>
                <a:ea typeface="Quattrocento Sans"/>
                <a:cs typeface="Quattrocento Sans"/>
                <a:sym typeface="Quattrocento Sans"/>
              </a:rPr>
              <a:t>600k → 20k for real-time </a:t>
            </a:r>
            <a:r>
              <a:rPr lang="en-US" sz="2000">
                <a:solidFill>
                  <a:srgbClr val="1E1E1E"/>
                </a:solidFill>
                <a:latin typeface="Quattrocento Sans"/>
                <a:ea typeface="Quattrocento Sans"/>
                <a:cs typeface="Quattrocento Sans"/>
                <a:sym typeface="Quattrocento Sans"/>
              </a:rPr>
              <a:t>performance</a:t>
            </a:r>
            <a:endParaRPr b="0" i="0" sz="2000" u="none" cap="none" strike="noStrike"/>
          </a:p>
          <a:p>
            <a:pPr indent="0" lvl="0" marL="0" marR="0" rtl="0" algn="l">
              <a:lnSpc>
                <a:spcPct val="160000"/>
              </a:lnSpc>
              <a:spcBef>
                <a:spcPts val="1000"/>
              </a:spcBef>
              <a:spcAft>
                <a:spcPts val="0"/>
              </a:spcAft>
              <a:buNone/>
            </a:pPr>
            <a:r>
              <a:rPr b="0" i="0" lang="en-US" sz="2000" u="none" cap="none" strike="noStrike">
                <a:solidFill>
                  <a:srgbClr val="1E1E1E"/>
                </a:solidFill>
                <a:latin typeface="Quattrocento Sans"/>
                <a:ea typeface="Quattrocento Sans"/>
                <a:cs typeface="Quattrocento Sans"/>
                <a:sym typeface="Quattrocento Sans"/>
              </a:rPr>
              <a:t>Retains structural complexity and fraud patterns</a:t>
            </a:r>
            <a:endParaRPr b="0" i="0" sz="2000" u="none" cap="none" strike="noStrike"/>
          </a:p>
        </p:txBody>
      </p:sp>
      <p:sp>
        <p:nvSpPr>
          <p:cNvPr id="52" name="Google Shape;52;p4"/>
          <p:cNvSpPr/>
          <p:nvPr/>
        </p:nvSpPr>
        <p:spPr>
          <a:xfrm>
            <a:off x="9144000" y="1651000"/>
            <a:ext cx="6350000" cy="6731000"/>
          </a:xfrm>
          <a:prstGeom prst="rect">
            <a:avLst/>
          </a:prstGeom>
          <a:solidFill>
            <a:srgbClr val="E8E4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9525000" y="1905000"/>
            <a:ext cx="5588000" cy="44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200" u="none" cap="none" strike="noStrike">
                <a:solidFill>
                  <a:srgbClr val="1B3A4B"/>
                </a:solidFill>
                <a:latin typeface="Quattrocento Sans"/>
                <a:ea typeface="Quattrocento Sans"/>
                <a:cs typeface="Quattrocento Sans"/>
                <a:sym typeface="Quattrocento Sans"/>
              </a:rPr>
              <a:t>Dataset Statistics</a:t>
            </a:r>
            <a:endParaRPr b="0" i="0" sz="1600" u="none" cap="none" strike="noStrike"/>
          </a:p>
        </p:txBody>
      </p:sp>
      <p:sp>
        <p:nvSpPr>
          <p:cNvPr id="54" name="Google Shape;54;p4"/>
          <p:cNvSpPr/>
          <p:nvPr/>
        </p:nvSpPr>
        <p:spPr>
          <a:xfrm>
            <a:off x="9525000" y="2667000"/>
            <a:ext cx="2540000" cy="69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4000" u="none" cap="none" strike="noStrike">
                <a:solidFill>
                  <a:srgbClr val="D4A017"/>
                </a:solidFill>
                <a:latin typeface="Quattrocento Sans"/>
                <a:ea typeface="Quattrocento Sans"/>
                <a:cs typeface="Quattrocento Sans"/>
                <a:sym typeface="Quattrocento Sans"/>
              </a:rPr>
              <a:t>20k</a:t>
            </a:r>
            <a:endParaRPr b="0" i="0" sz="1600" u="none" cap="none" strike="noStrike"/>
          </a:p>
        </p:txBody>
      </p:sp>
      <p:sp>
        <p:nvSpPr>
          <p:cNvPr id="55" name="Google Shape;55;p4"/>
          <p:cNvSpPr/>
          <p:nvPr/>
        </p:nvSpPr>
        <p:spPr>
          <a:xfrm>
            <a:off x="9525000" y="3429000"/>
            <a:ext cx="2540000" cy="317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B7B8D"/>
                </a:solidFill>
                <a:latin typeface="Quattrocento Sans"/>
                <a:ea typeface="Quattrocento Sans"/>
                <a:cs typeface="Quattrocento Sans"/>
                <a:sym typeface="Quattrocento Sans"/>
              </a:rPr>
              <a:t>Transactions</a:t>
            </a:r>
            <a:endParaRPr b="0" i="0" sz="1200" u="none" cap="none" strike="noStrike"/>
          </a:p>
        </p:txBody>
      </p:sp>
      <p:sp>
        <p:nvSpPr>
          <p:cNvPr id="56" name="Google Shape;56;p4"/>
          <p:cNvSpPr/>
          <p:nvPr/>
        </p:nvSpPr>
        <p:spPr>
          <a:xfrm>
            <a:off x="12573000" y="2667000"/>
            <a:ext cx="2540000" cy="69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4000" u="none" cap="none" strike="noStrike">
                <a:solidFill>
                  <a:srgbClr val="D4A017"/>
                </a:solidFill>
                <a:latin typeface="Quattrocento Sans"/>
                <a:ea typeface="Quattrocento Sans"/>
                <a:cs typeface="Quattrocento Sans"/>
                <a:sym typeface="Quattrocento Sans"/>
              </a:rPr>
              <a:t>~600k</a:t>
            </a:r>
            <a:endParaRPr b="0" i="0" sz="1600" u="none" cap="none" strike="noStrike"/>
          </a:p>
        </p:txBody>
      </p:sp>
      <p:sp>
        <p:nvSpPr>
          <p:cNvPr id="57" name="Google Shape;57;p4"/>
          <p:cNvSpPr/>
          <p:nvPr/>
        </p:nvSpPr>
        <p:spPr>
          <a:xfrm>
            <a:off x="12573000" y="3429000"/>
            <a:ext cx="2540000" cy="317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B7B8D"/>
                </a:solidFill>
                <a:latin typeface="Quattrocento Sans"/>
                <a:ea typeface="Quattrocento Sans"/>
                <a:cs typeface="Quattrocento Sans"/>
                <a:sym typeface="Quattrocento Sans"/>
              </a:rPr>
              <a:t>Original Size</a:t>
            </a:r>
            <a:endParaRPr b="0" i="0" sz="1200" u="none" cap="none" strike="noStrike"/>
          </a:p>
        </p:txBody>
      </p:sp>
      <p:sp>
        <p:nvSpPr>
          <p:cNvPr id="58" name="Google Shape;58;p4"/>
          <p:cNvSpPr/>
          <p:nvPr/>
        </p:nvSpPr>
        <p:spPr>
          <a:xfrm>
            <a:off x="9525000" y="4064000"/>
            <a:ext cx="2540000" cy="69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4000" u="none" cap="none" strike="noStrike">
                <a:solidFill>
                  <a:srgbClr val="1B3A4B"/>
                </a:solidFill>
                <a:latin typeface="Quattrocento Sans"/>
                <a:ea typeface="Quattrocento Sans"/>
                <a:cs typeface="Quattrocento Sans"/>
                <a:sym typeface="Quattrocento Sans"/>
              </a:rPr>
              <a:t>5</a:t>
            </a:r>
            <a:endParaRPr b="0" i="0" sz="1600" u="none" cap="none" strike="noStrike"/>
          </a:p>
        </p:txBody>
      </p:sp>
      <p:sp>
        <p:nvSpPr>
          <p:cNvPr id="59" name="Google Shape;59;p4"/>
          <p:cNvSpPr/>
          <p:nvPr/>
        </p:nvSpPr>
        <p:spPr>
          <a:xfrm>
            <a:off x="9525000" y="4826000"/>
            <a:ext cx="2540000" cy="317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B7B8D"/>
                </a:solidFill>
                <a:latin typeface="Quattrocento Sans"/>
                <a:ea typeface="Quattrocento Sans"/>
                <a:cs typeface="Quattrocento Sans"/>
                <a:sym typeface="Quattrocento Sans"/>
              </a:rPr>
              <a:t>Core Fields</a:t>
            </a:r>
            <a:endParaRPr b="0" i="0" sz="1200" u="none" cap="none" strike="noStrike"/>
          </a:p>
        </p:txBody>
      </p:sp>
      <p:sp>
        <p:nvSpPr>
          <p:cNvPr id="60" name="Google Shape;60;p4"/>
          <p:cNvSpPr/>
          <p:nvPr/>
        </p:nvSpPr>
        <p:spPr>
          <a:xfrm>
            <a:off x="12573000" y="4064000"/>
            <a:ext cx="2540000" cy="698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4000" u="none" cap="none" strike="noStrike">
                <a:solidFill>
                  <a:srgbClr val="1B3A4B"/>
                </a:solidFill>
                <a:latin typeface="Quattrocento Sans"/>
                <a:ea typeface="Quattrocento Sans"/>
                <a:cs typeface="Quattrocento Sans"/>
                <a:sym typeface="Quattrocento Sans"/>
              </a:rPr>
              <a:t>2</a:t>
            </a:r>
            <a:endParaRPr b="0" i="0" sz="1600" u="none" cap="none" strike="noStrike"/>
          </a:p>
        </p:txBody>
      </p:sp>
      <p:sp>
        <p:nvSpPr>
          <p:cNvPr id="61" name="Google Shape;61;p4"/>
          <p:cNvSpPr/>
          <p:nvPr/>
        </p:nvSpPr>
        <p:spPr>
          <a:xfrm>
            <a:off x="12573000" y="4826000"/>
            <a:ext cx="2540000" cy="317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6B7B8D"/>
                </a:solidFill>
                <a:latin typeface="Quattrocento Sans"/>
                <a:ea typeface="Quattrocento Sans"/>
                <a:cs typeface="Quattrocento Sans"/>
                <a:sym typeface="Quattrocento Sans"/>
              </a:rPr>
              <a:t>Node Types</a:t>
            </a:r>
            <a:endParaRPr b="0" i="0" sz="1200" u="none" cap="none" strike="noStrike"/>
          </a:p>
        </p:txBody>
      </p:sp>
      <p:sp>
        <p:nvSpPr>
          <p:cNvPr id="62" name="Google Shape;62;p4"/>
          <p:cNvSpPr/>
          <p:nvPr/>
        </p:nvSpPr>
        <p:spPr>
          <a:xfrm>
            <a:off x="9525000" y="5588000"/>
            <a:ext cx="5588000" cy="2794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800" u="none" cap="none" strike="noStrike">
                <a:solidFill>
                  <a:srgbClr val="1E1E1E"/>
                </a:solidFill>
                <a:latin typeface="Quattrocento Sans"/>
                <a:ea typeface="Quattrocento Sans"/>
                <a:cs typeface="Quattrocento Sans"/>
                <a:sym typeface="Quattrocento Sans"/>
              </a:rPr>
              <a:t>Why sample?</a:t>
            </a:r>
            <a:endParaRPr b="0" i="0" sz="1800" u="none" cap="none" strike="noStrike"/>
          </a:p>
          <a:p>
            <a:pPr indent="0" lvl="0" marL="0" marR="0" rtl="0" algn="l">
              <a:lnSpc>
                <a:spcPct val="150000"/>
              </a:lnSpc>
              <a:spcBef>
                <a:spcPts val="800"/>
              </a:spcBef>
              <a:spcAft>
                <a:spcPts val="0"/>
              </a:spcAft>
              <a:buNone/>
            </a:pPr>
            <a:r>
              <a:rPr b="0" i="0" lang="en-US" sz="1800" u="none" cap="none" strike="noStrike">
                <a:solidFill>
                  <a:srgbClr val="1E1E1E"/>
                </a:solidFill>
                <a:latin typeface="Quattrocento Sans"/>
                <a:ea typeface="Quattrocento Sans"/>
                <a:cs typeface="Quattrocento Sans"/>
                <a:sym typeface="Quattrocento Sans"/>
              </a:rPr>
              <a:t>Full dataset computation is too slow for interactive exploration. The 20k subset enables:</a:t>
            </a:r>
            <a:endParaRPr b="0" i="0" sz="1800" u="none" cap="none" strike="noStrike"/>
          </a:p>
          <a:p>
            <a:pPr indent="-285750" lvl="0" marL="285750" marR="0" rtl="0" algn="l">
              <a:lnSpc>
                <a:spcPct val="150000"/>
              </a:lnSpc>
              <a:spcBef>
                <a:spcPts val="10"/>
              </a:spcBef>
              <a:spcAft>
                <a:spcPts val="0"/>
              </a:spcAft>
              <a:buClr>
                <a:srgbClr val="1E1E1E"/>
              </a:buClr>
              <a:buSzPts val="1800"/>
              <a:buFont typeface="Quattrocento Sans"/>
              <a:buChar char="•"/>
            </a:pPr>
            <a:r>
              <a:rPr b="0" i="0" lang="en-US" sz="1800" u="none" cap="none" strike="noStrike">
                <a:solidFill>
                  <a:srgbClr val="1E1E1E"/>
                </a:solidFill>
                <a:latin typeface="Quattrocento Sans"/>
                <a:ea typeface="Quattrocento Sans"/>
                <a:cs typeface="Quattrocento Sans"/>
                <a:sym typeface="Quattrocento Sans"/>
              </a:rPr>
              <a:t>Real-time Streamlit interactivity</a:t>
            </a:r>
            <a:endParaRPr b="0" i="0" sz="1800" u="none" cap="none" strike="noStrike"/>
          </a:p>
          <a:p>
            <a:pPr indent="-285750" lvl="0" marL="285750" marR="0" rtl="0" algn="l">
              <a:lnSpc>
                <a:spcPct val="150000"/>
              </a:lnSpc>
              <a:spcBef>
                <a:spcPts val="10"/>
              </a:spcBef>
              <a:spcAft>
                <a:spcPts val="0"/>
              </a:spcAft>
              <a:buClr>
                <a:srgbClr val="1E1E1E"/>
              </a:buClr>
              <a:buSzPts val="1800"/>
              <a:buFont typeface="Quattrocento Sans"/>
              <a:buChar char="•"/>
            </a:pPr>
            <a:r>
              <a:rPr b="0" i="0" lang="en-US" sz="1800" u="none" cap="none" strike="noStrike">
                <a:solidFill>
                  <a:srgbClr val="1E1E1E"/>
                </a:solidFill>
                <a:latin typeface="Quattrocento Sans"/>
                <a:ea typeface="Quattrocento Sans"/>
                <a:cs typeface="Quattrocento Sans"/>
                <a:sym typeface="Quattrocento Sans"/>
              </a:rPr>
              <a:t>Fast search algorithm comparison</a:t>
            </a:r>
            <a:endParaRPr b="0" i="0" sz="1800" u="none" cap="none" strike="noStrike"/>
          </a:p>
          <a:p>
            <a:pPr indent="-285750" lvl="0" marL="285750" marR="0" rtl="0" algn="l">
              <a:lnSpc>
                <a:spcPct val="150000"/>
              </a:lnSpc>
              <a:spcBef>
                <a:spcPts val="10"/>
              </a:spcBef>
              <a:spcAft>
                <a:spcPts val="0"/>
              </a:spcAft>
              <a:buClr>
                <a:srgbClr val="1E1E1E"/>
              </a:buClr>
              <a:buSzPts val="1800"/>
              <a:buFont typeface="Quattrocento Sans"/>
              <a:buChar char="•"/>
            </a:pPr>
            <a:r>
              <a:rPr b="0" i="0" lang="en-US" sz="1800" u="none" cap="none" strike="noStrike">
                <a:solidFill>
                  <a:srgbClr val="1E1E1E"/>
                </a:solidFill>
                <a:latin typeface="Quattrocento Sans"/>
                <a:ea typeface="Quattrocento Sans"/>
                <a:cs typeface="Quattrocento Sans"/>
                <a:sym typeface="Quattrocento Sans"/>
              </a:rPr>
              <a:t>Responsive sensitivity experiments</a:t>
            </a:r>
            <a:endParaRPr b="0" i="0" sz="1800" u="none" cap="none" strike="noStrike"/>
          </a:p>
        </p:txBody>
      </p:sp>
      <p:sp>
        <p:nvSpPr>
          <p:cNvPr id="63" name="Google Shape;63;p4"/>
          <p:cNvSpPr/>
          <p:nvPr/>
        </p:nvSpPr>
        <p:spPr>
          <a:xfrm>
            <a:off x="14986000" y="8763000"/>
            <a:ext cx="1016000" cy="254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t/>
            </a:r>
            <a:endParaRPr b="0" i="0" sz="1200" u="none" cap="none" strike="noStrike"/>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F"/>
        </a:solidFill>
      </p:bgPr>
    </p:bg>
    <p:spTree>
      <p:nvGrpSpPr>
        <p:cNvPr id="68" name="Shape 68"/>
        <p:cNvGrpSpPr/>
        <p:nvPr/>
      </p:nvGrpSpPr>
      <p:grpSpPr>
        <a:xfrm>
          <a:off x="0" y="0"/>
          <a:ext cx="0" cy="0"/>
          <a:chOff x="0" y="0"/>
          <a:chExt cx="0" cy="0"/>
        </a:xfrm>
      </p:grpSpPr>
      <p:sp>
        <p:nvSpPr>
          <p:cNvPr id="69" name="Google Shape;69;p8"/>
          <p:cNvSpPr/>
          <p:nvPr/>
        </p:nvSpPr>
        <p:spPr>
          <a:xfrm>
            <a:off x="0" y="0"/>
            <a:ext cx="16256000" cy="508000"/>
          </a:xfrm>
          <a:prstGeom prst="rect">
            <a:avLst/>
          </a:prstGeom>
          <a:solidFill>
            <a:srgbClr val="1B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8"/>
          <p:cNvSpPr/>
          <p:nvPr/>
        </p:nvSpPr>
        <p:spPr>
          <a:xfrm>
            <a:off x="762000" y="698500"/>
            <a:ext cx="7620000" cy="50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800" u="none" cap="none" strike="noStrike">
                <a:solidFill>
                  <a:srgbClr val="1B3A4B"/>
                </a:solidFill>
                <a:latin typeface="Quattrocento Sans"/>
                <a:ea typeface="Quattrocento Sans"/>
                <a:cs typeface="Quattrocento Sans"/>
                <a:sym typeface="Quattrocento Sans"/>
              </a:rPr>
              <a:t>Search Algorithms</a:t>
            </a:r>
            <a:endParaRPr b="0" i="0" sz="2800" u="none" cap="none" strike="noStrike"/>
          </a:p>
        </p:txBody>
      </p:sp>
      <p:sp>
        <p:nvSpPr>
          <p:cNvPr id="71" name="Google Shape;71;p8"/>
          <p:cNvSpPr/>
          <p:nvPr/>
        </p:nvSpPr>
        <p:spPr>
          <a:xfrm>
            <a:off x="762000" y="1270000"/>
            <a:ext cx="1016000" cy="38100"/>
          </a:xfrm>
          <a:prstGeom prst="rect">
            <a:avLst/>
          </a:prstGeom>
          <a:solidFill>
            <a:srgbClr val="D4A0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a:off x="762000" y="1524000"/>
            <a:ext cx="14732000" cy="5080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0" i="0" lang="en-US" sz="2000" u="none" cap="none" strike="noStrike">
                <a:solidFill>
                  <a:srgbClr val="1E1E1E"/>
                </a:solidFill>
                <a:latin typeface="Quattrocento Sans"/>
                <a:ea typeface="Quattrocento Sans"/>
                <a:cs typeface="Quattrocento Sans"/>
                <a:sym typeface="Quattrocento Sans"/>
              </a:rPr>
              <a:t>Two search strategies are compared: structural baseline vs. risk-informed traversal</a:t>
            </a:r>
            <a:endParaRPr b="0" i="0" sz="2000" u="none" cap="none" strike="noStrike"/>
          </a:p>
        </p:txBody>
      </p:sp>
      <p:sp>
        <p:nvSpPr>
          <p:cNvPr id="73" name="Google Shape;73;p8"/>
          <p:cNvSpPr/>
          <p:nvPr/>
        </p:nvSpPr>
        <p:spPr>
          <a:xfrm>
            <a:off x="762000" y="2286000"/>
            <a:ext cx="6985000" cy="5842000"/>
          </a:xfrm>
          <a:prstGeom prst="rect">
            <a:avLst/>
          </a:prstGeom>
          <a:solidFill>
            <a:srgbClr val="E8E4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a:off x="1016000" y="2540000"/>
            <a:ext cx="1016000" cy="406400"/>
          </a:xfrm>
          <a:prstGeom prst="rect">
            <a:avLst/>
          </a:prstGeom>
          <a:solidFill>
            <a:srgbClr val="1B3A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a:off x="1016000" y="2540000"/>
            <a:ext cx="1016000" cy="406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Quattrocento Sans"/>
                <a:ea typeface="Quattrocento Sans"/>
                <a:cs typeface="Quattrocento Sans"/>
                <a:sym typeface="Quattrocento Sans"/>
              </a:rPr>
              <a:t>BFS</a:t>
            </a:r>
            <a:endParaRPr b="0" i="0" sz="1400" u="none" cap="none" strike="noStrike"/>
          </a:p>
        </p:txBody>
      </p:sp>
      <p:sp>
        <p:nvSpPr>
          <p:cNvPr id="76" name="Google Shape;76;p8"/>
          <p:cNvSpPr/>
          <p:nvPr/>
        </p:nvSpPr>
        <p:spPr>
          <a:xfrm>
            <a:off x="1016000" y="3175000"/>
            <a:ext cx="6477000" cy="44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1B3A4B"/>
                </a:solidFill>
                <a:latin typeface="Quattrocento Sans"/>
                <a:ea typeface="Quattrocento Sans"/>
                <a:cs typeface="Quattrocento Sans"/>
                <a:sym typeface="Quattrocento Sans"/>
              </a:rPr>
              <a:t>Breadth-First Search</a:t>
            </a:r>
            <a:endParaRPr b="0" i="0" sz="1600" u="none" cap="none" strike="noStrike"/>
          </a:p>
        </p:txBody>
      </p:sp>
      <p:sp>
        <p:nvSpPr>
          <p:cNvPr id="77" name="Google Shape;77;p8"/>
          <p:cNvSpPr/>
          <p:nvPr/>
        </p:nvSpPr>
        <p:spPr>
          <a:xfrm>
            <a:off x="1016000" y="3810000"/>
            <a:ext cx="6477000" cy="41910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1" i="0" lang="en-US" sz="2000" u="none" cap="none" strike="noStrike">
                <a:solidFill>
                  <a:srgbClr val="1E1E1E"/>
                </a:solidFill>
                <a:latin typeface="Quattrocento Sans"/>
                <a:ea typeface="Quattrocento Sans"/>
                <a:cs typeface="Quattrocento Sans"/>
                <a:sym typeface="Quattrocento Sans"/>
              </a:rPr>
              <a:t>Approach:</a:t>
            </a:r>
            <a:r>
              <a:rPr b="0" i="0" lang="en-US" sz="2000" u="none" cap="none" strike="noStrike">
                <a:solidFill>
                  <a:srgbClr val="1E1E1E"/>
                </a:solidFill>
                <a:latin typeface="Quattrocento Sans"/>
                <a:ea typeface="Quattrocento Sans"/>
                <a:cs typeface="Quattrocento Sans"/>
                <a:sym typeface="Quattrocento Sans"/>
              </a:rPr>
              <a:t> Explores graph level by level, expanding all neighbors at the current depth before moving deeper</a:t>
            </a:r>
            <a:endParaRPr b="0" i="0" sz="2000" u="none" cap="none" strike="noStrike"/>
          </a:p>
          <a:p>
            <a:pPr indent="0" lvl="0" marL="0" marR="0" rtl="0" algn="l">
              <a:lnSpc>
                <a:spcPct val="160000"/>
              </a:lnSpc>
              <a:spcBef>
                <a:spcPts val="1200"/>
              </a:spcBef>
              <a:spcAft>
                <a:spcPts val="0"/>
              </a:spcAft>
              <a:buNone/>
            </a:pPr>
            <a:r>
              <a:rPr b="1" i="0" lang="en-US" sz="2000" u="none" cap="none" strike="noStrike">
                <a:solidFill>
                  <a:srgbClr val="1E1E1E"/>
                </a:solidFill>
                <a:latin typeface="Quattrocento Sans"/>
                <a:ea typeface="Quattrocento Sans"/>
                <a:cs typeface="Quattrocento Sans"/>
                <a:sym typeface="Quattrocento Sans"/>
              </a:rPr>
              <a:t>Objective:</a:t>
            </a:r>
            <a:r>
              <a:rPr b="0" i="0" lang="en-US" sz="2000" u="none" cap="none" strike="noStrike">
                <a:solidFill>
                  <a:srgbClr val="1E1E1E"/>
                </a:solidFill>
                <a:latin typeface="Quattrocento Sans"/>
                <a:ea typeface="Quattrocento Sans"/>
                <a:cs typeface="Quattrocento Sans"/>
                <a:sym typeface="Quattrocento Sans"/>
              </a:rPr>
              <a:t> Find the shortest path in terms of number of edges</a:t>
            </a:r>
            <a:endParaRPr b="0" i="0" sz="2000" u="none" cap="none" strike="noStrike"/>
          </a:p>
          <a:p>
            <a:pPr indent="0" lvl="0" marL="0" marR="0" rtl="0" algn="l">
              <a:lnSpc>
                <a:spcPct val="160000"/>
              </a:lnSpc>
              <a:spcBef>
                <a:spcPts val="1200"/>
              </a:spcBef>
              <a:spcAft>
                <a:spcPts val="0"/>
              </a:spcAft>
              <a:buNone/>
            </a:pPr>
            <a:r>
              <a:rPr b="1" i="0" lang="en-US" sz="2000" u="none" cap="none" strike="noStrike">
                <a:solidFill>
                  <a:srgbClr val="1E1E1E"/>
                </a:solidFill>
                <a:latin typeface="Quattrocento Sans"/>
                <a:ea typeface="Quattrocento Sans"/>
                <a:cs typeface="Quattrocento Sans"/>
                <a:sym typeface="Quattrocento Sans"/>
              </a:rPr>
              <a:t>Risk awareness:</a:t>
            </a:r>
            <a:r>
              <a:rPr b="0" i="0" lang="en-US" sz="2000" u="none" cap="none" strike="noStrike">
                <a:solidFill>
                  <a:srgbClr val="1E1E1E"/>
                </a:solidFill>
                <a:latin typeface="Quattrocento Sans"/>
                <a:ea typeface="Quattrocento Sans"/>
                <a:cs typeface="Quattrocento Sans"/>
                <a:sym typeface="Quattrocento Sans"/>
              </a:rPr>
              <a:t> None — treats all edges equally</a:t>
            </a:r>
            <a:endParaRPr b="0" i="0" sz="2000" u="none" cap="none" strike="noStrike"/>
          </a:p>
          <a:p>
            <a:pPr indent="0" lvl="0" marL="0" marR="0" rtl="0" algn="l">
              <a:lnSpc>
                <a:spcPct val="160000"/>
              </a:lnSpc>
              <a:spcBef>
                <a:spcPts val="1200"/>
              </a:spcBef>
              <a:spcAft>
                <a:spcPts val="0"/>
              </a:spcAft>
              <a:buNone/>
            </a:pPr>
            <a:r>
              <a:rPr b="1" i="0" lang="en-US" sz="2000" u="none" cap="none" strike="noStrike">
                <a:solidFill>
                  <a:srgbClr val="1E1E1E"/>
                </a:solidFill>
                <a:latin typeface="Quattrocento Sans"/>
                <a:ea typeface="Quattrocento Sans"/>
                <a:cs typeface="Quattrocento Sans"/>
                <a:sym typeface="Quattrocento Sans"/>
              </a:rPr>
              <a:t>Role:</a:t>
            </a:r>
            <a:r>
              <a:rPr b="0" i="0" lang="en-US" sz="2000" u="none" cap="none" strike="noStrike">
                <a:solidFill>
                  <a:srgbClr val="1E1E1E"/>
                </a:solidFill>
                <a:latin typeface="Quattrocento Sans"/>
                <a:ea typeface="Quattrocento Sans"/>
                <a:cs typeface="Quattrocento Sans"/>
                <a:sym typeface="Quattrocento Sans"/>
              </a:rPr>
              <a:t> Baseline method for structural comparison</a:t>
            </a:r>
            <a:endParaRPr b="0" i="0" sz="2000" u="none" cap="none" strike="noStrike"/>
          </a:p>
          <a:p>
            <a:pPr indent="0" lvl="0" marL="0" marR="0" rtl="0" algn="l">
              <a:lnSpc>
                <a:spcPct val="160000"/>
              </a:lnSpc>
              <a:spcBef>
                <a:spcPts val="1200"/>
              </a:spcBef>
              <a:spcAft>
                <a:spcPts val="0"/>
              </a:spcAft>
              <a:buNone/>
            </a:pPr>
            <a:r>
              <a:t/>
            </a:r>
            <a:endParaRPr b="0" i="0" sz="2000" u="none" cap="none" strike="noStrike"/>
          </a:p>
        </p:txBody>
      </p:sp>
      <p:sp>
        <p:nvSpPr>
          <p:cNvPr id="78" name="Google Shape;78;p8"/>
          <p:cNvSpPr/>
          <p:nvPr/>
        </p:nvSpPr>
        <p:spPr>
          <a:xfrm>
            <a:off x="8128000" y="2286000"/>
            <a:ext cx="7366000" cy="5842000"/>
          </a:xfrm>
          <a:prstGeom prst="rect">
            <a:avLst/>
          </a:prstGeom>
          <a:solidFill>
            <a:srgbClr val="E8E4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a:off x="8382000" y="2540000"/>
            <a:ext cx="1016000" cy="406400"/>
          </a:xfrm>
          <a:prstGeom prst="rect">
            <a:avLst/>
          </a:prstGeom>
          <a:solidFill>
            <a:srgbClr val="D4A0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a:off x="8382000" y="2540000"/>
            <a:ext cx="1016000" cy="406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Quattrocento Sans"/>
                <a:ea typeface="Quattrocento Sans"/>
                <a:cs typeface="Quattrocento Sans"/>
                <a:sym typeface="Quattrocento Sans"/>
              </a:rPr>
              <a:t>A*</a:t>
            </a:r>
            <a:endParaRPr b="0" i="0" sz="1400" u="none" cap="none" strike="noStrike"/>
          </a:p>
        </p:txBody>
      </p:sp>
      <p:sp>
        <p:nvSpPr>
          <p:cNvPr id="81" name="Google Shape;81;p8"/>
          <p:cNvSpPr/>
          <p:nvPr/>
        </p:nvSpPr>
        <p:spPr>
          <a:xfrm>
            <a:off x="8382000" y="3175000"/>
            <a:ext cx="6858000" cy="444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1B3A4B"/>
                </a:solidFill>
                <a:latin typeface="Quattrocento Sans"/>
                <a:ea typeface="Quattrocento Sans"/>
                <a:cs typeface="Quattrocento Sans"/>
                <a:sym typeface="Quattrocento Sans"/>
              </a:rPr>
              <a:t>A* Search</a:t>
            </a:r>
            <a:endParaRPr b="0" i="0" sz="1600" u="none" cap="none" strike="noStrike"/>
          </a:p>
        </p:txBody>
      </p:sp>
      <p:sp>
        <p:nvSpPr>
          <p:cNvPr id="82" name="Google Shape;82;p8"/>
          <p:cNvSpPr/>
          <p:nvPr/>
        </p:nvSpPr>
        <p:spPr>
          <a:xfrm>
            <a:off x="8382000" y="3810000"/>
            <a:ext cx="6858000" cy="39370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None/>
            </a:pPr>
            <a:r>
              <a:rPr b="1" i="0" lang="en-US" sz="2000" u="none" cap="none" strike="noStrike">
                <a:solidFill>
                  <a:srgbClr val="1E1E1E"/>
                </a:solidFill>
                <a:latin typeface="Quattrocento Sans"/>
                <a:ea typeface="Quattrocento Sans"/>
                <a:cs typeface="Quattrocento Sans"/>
                <a:sym typeface="Quattrocento Sans"/>
              </a:rPr>
              <a:t>Approach:</a:t>
            </a:r>
            <a:r>
              <a:rPr b="0" i="0" lang="en-US" sz="2000" u="none" cap="none" strike="noStrike">
                <a:solidFill>
                  <a:srgbClr val="1E1E1E"/>
                </a:solidFill>
                <a:latin typeface="Quattrocento Sans"/>
                <a:ea typeface="Quattrocento Sans"/>
                <a:cs typeface="Quattrocento Sans"/>
                <a:sym typeface="Quattrocento Sans"/>
              </a:rPr>
              <a:t> Cost-guided search combining accumulated cost with heuristic estimate</a:t>
            </a:r>
            <a:endParaRPr b="0" i="0" sz="2000" u="none" cap="none" strike="noStrike"/>
          </a:p>
          <a:p>
            <a:pPr indent="0" lvl="0" marL="0" marR="0" rtl="0" algn="l">
              <a:lnSpc>
                <a:spcPct val="160000"/>
              </a:lnSpc>
              <a:spcBef>
                <a:spcPts val="1200"/>
              </a:spcBef>
              <a:spcAft>
                <a:spcPts val="0"/>
              </a:spcAft>
              <a:buNone/>
            </a:pPr>
            <a:r>
              <a:rPr b="1" i="0" lang="en-US" sz="2000" u="none" cap="none" strike="noStrike">
                <a:solidFill>
                  <a:srgbClr val="1E1E1E"/>
                </a:solidFill>
                <a:latin typeface="Quattrocento Sans"/>
                <a:ea typeface="Quattrocento Sans"/>
                <a:cs typeface="Quattrocento Sans"/>
                <a:sym typeface="Quattrocento Sans"/>
              </a:rPr>
              <a:t>Objective:</a:t>
            </a:r>
            <a:r>
              <a:rPr b="0" i="0" lang="en-US" sz="2000" u="none" cap="none" strike="noStrike">
                <a:solidFill>
                  <a:srgbClr val="1E1E1E"/>
                </a:solidFill>
                <a:latin typeface="Quattrocento Sans"/>
                <a:ea typeface="Quattrocento Sans"/>
                <a:cs typeface="Quattrocento Sans"/>
                <a:sym typeface="Quattrocento Sans"/>
              </a:rPr>
              <a:t> Minimize total cost along the path</a:t>
            </a:r>
            <a:endParaRPr b="0" i="0" sz="2000" u="none" cap="none" strike="noStrike"/>
          </a:p>
          <a:p>
            <a:pPr indent="0" lvl="0" marL="0" marR="0" rtl="0" algn="l">
              <a:lnSpc>
                <a:spcPct val="160000"/>
              </a:lnSpc>
              <a:spcBef>
                <a:spcPts val="1200"/>
              </a:spcBef>
              <a:spcAft>
                <a:spcPts val="0"/>
              </a:spcAft>
              <a:buNone/>
            </a:pPr>
            <a:r>
              <a:rPr b="1" i="0" lang="en-US" sz="2000" u="none" cap="none" strike="noStrike">
                <a:solidFill>
                  <a:srgbClr val="1E1E1E"/>
                </a:solidFill>
                <a:latin typeface="Quattrocento Sans"/>
                <a:ea typeface="Quattrocento Sans"/>
                <a:cs typeface="Quattrocento Sans"/>
                <a:sym typeface="Quattrocento Sans"/>
              </a:rPr>
              <a:t>Risk awareness:</a:t>
            </a:r>
            <a:r>
              <a:rPr b="0" i="0" lang="en-US" sz="2000" u="none" cap="none" strike="noStrike">
                <a:solidFill>
                  <a:srgbClr val="1E1E1E"/>
                </a:solidFill>
                <a:latin typeface="Quattrocento Sans"/>
                <a:ea typeface="Quattrocento Sans"/>
                <a:cs typeface="Quattrocento Sans"/>
                <a:sym typeface="Quattrocento Sans"/>
              </a:rPr>
              <a:t> Uses ML-derived cost = 1 − risk</a:t>
            </a:r>
            <a:endParaRPr b="0" i="0" sz="2000" u="none" cap="none" strike="noStrike"/>
          </a:p>
          <a:p>
            <a:pPr indent="0" lvl="0" marL="0" marR="0" rtl="0" algn="l">
              <a:lnSpc>
                <a:spcPct val="160000"/>
              </a:lnSpc>
              <a:spcBef>
                <a:spcPts val="1200"/>
              </a:spcBef>
              <a:spcAft>
                <a:spcPts val="0"/>
              </a:spcAft>
              <a:buNone/>
            </a:pPr>
            <a:r>
              <a:rPr b="1" i="0" lang="en-US" sz="2000" u="none" cap="none" strike="noStrike">
                <a:solidFill>
                  <a:srgbClr val="1E1E1E"/>
                </a:solidFill>
                <a:latin typeface="Quattrocento Sans"/>
                <a:ea typeface="Quattrocento Sans"/>
                <a:cs typeface="Quattrocento Sans"/>
                <a:sym typeface="Quattrocento Sans"/>
              </a:rPr>
              <a:t>Role:</a:t>
            </a:r>
            <a:r>
              <a:rPr b="0" i="0" lang="en-US" sz="2000" u="none" cap="none" strike="noStrike">
                <a:solidFill>
                  <a:srgbClr val="1E1E1E"/>
                </a:solidFill>
                <a:latin typeface="Quattrocento Sans"/>
                <a:ea typeface="Quattrocento Sans"/>
                <a:cs typeface="Quattrocento Sans"/>
                <a:sym typeface="Quattrocento Sans"/>
              </a:rPr>
              <a:t> Risk-informed path discovery</a:t>
            </a:r>
            <a:endParaRPr b="0" i="0" sz="2000" u="none" cap="none" strike="noStrike"/>
          </a:p>
          <a:p>
            <a:pPr indent="0" lvl="0" marL="0" marR="0" rtl="0" algn="l">
              <a:lnSpc>
                <a:spcPct val="160000"/>
              </a:lnSpc>
              <a:spcBef>
                <a:spcPts val="1200"/>
              </a:spcBef>
              <a:spcAft>
                <a:spcPts val="0"/>
              </a:spcAft>
              <a:buNone/>
            </a:pPr>
            <a:r>
              <a:rPr b="0" i="0" lang="en-US" sz="2000" u="none" cap="none" strike="noStrike">
                <a:solidFill>
                  <a:srgbClr val="D4A017"/>
                </a:solidFill>
                <a:latin typeface="Quattrocento Sans"/>
                <a:ea typeface="Quattrocento Sans"/>
                <a:cs typeface="Quattrocento Sans"/>
                <a:sym typeface="Quattrocento Sans"/>
              </a:rPr>
              <a:t>ML-guided, prioritizes suspicious paths</a:t>
            </a:r>
            <a:endParaRPr b="0" i="0" sz="2000" u="none" cap="none" strike="noStrike"/>
          </a:p>
        </p:txBody>
      </p:sp>
      <p:cxnSp>
        <p:nvCxnSpPr>
          <p:cNvPr id="83" name="Google Shape;83;p8"/>
          <p:cNvCxnSpPr/>
          <p:nvPr/>
        </p:nvCxnSpPr>
        <p:spPr>
          <a:xfrm>
            <a:off x="8001000" y="2540000"/>
            <a:ext cx="0" cy="5334000"/>
          </a:xfrm>
          <a:prstGeom prst="straightConnector1">
            <a:avLst/>
          </a:prstGeom>
          <a:noFill/>
          <a:ln cap="flat" cmpd="sng" w="25400">
            <a:solidFill>
              <a:srgbClr val="D5D0C8"/>
            </a:solidFill>
            <a:prstDash val="dot"/>
            <a:round/>
            <a:headEnd len="sm" w="sm" type="none"/>
            <a:tailEnd len="sm" w="sm" type="none"/>
          </a:ln>
        </p:spPr>
      </p:cxnSp>
      <p:sp>
        <p:nvSpPr>
          <p:cNvPr id="84" name="Google Shape;84;p8"/>
          <p:cNvSpPr/>
          <p:nvPr/>
        </p:nvSpPr>
        <p:spPr>
          <a:xfrm>
            <a:off x="14986000" y="8763000"/>
            <a:ext cx="1016000" cy="2540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200" u="none" cap="none" strike="noStrike">
                <a:solidFill>
                  <a:srgbClr val="6B7B8D"/>
                </a:solidFill>
                <a:latin typeface="Quattrocento Sans"/>
                <a:ea typeface="Quattrocento Sans"/>
                <a:cs typeface="Quattrocento Sans"/>
                <a:sym typeface="Quattrocento Sans"/>
              </a:rPr>
              <a:t>8 / 18</a:t>
            </a:r>
            <a:endParaRPr b="0" i="0" sz="1200" u="none" cap="none" strike="noStrike"/>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g3a8976ad427_0_0"/>
          <p:cNvPicPr preferRelativeResize="0"/>
          <p:nvPr/>
        </p:nvPicPr>
        <p:blipFill rotWithShape="1">
          <a:blip r:embed="rId3">
            <a:alphaModFix/>
          </a:blip>
          <a:srcRect b="4251" l="-1356" r="3086" t="0"/>
          <a:stretch/>
        </p:blipFill>
        <p:spPr>
          <a:xfrm>
            <a:off x="-328750" y="0"/>
            <a:ext cx="16682849" cy="9144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g3a8976ad427_0_5"/>
          <p:cNvPicPr preferRelativeResize="0"/>
          <p:nvPr/>
        </p:nvPicPr>
        <p:blipFill rotWithShape="1">
          <a:blip r:embed="rId3">
            <a:alphaModFix/>
          </a:blip>
          <a:srcRect b="3335" l="1160" r="2175" t="0"/>
          <a:stretch/>
        </p:blipFill>
        <p:spPr>
          <a:xfrm>
            <a:off x="0" y="-5"/>
            <a:ext cx="16256000" cy="914400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2026-05-04T23:06:51Z</dcterms:created>
  <dc:creator>Kimi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{"Label":"Fraud Network Analysis for ML-Informed Graph Search","ContentProducer":"001191110108MACG2KBH8F10000","ProduceID":"19df53da-9af2-8951-8000-00006193b2c6","ReservedCode1":"","ContentPropagator":"001191110108MACG2KBH8F20000","PropagateID":"19df53da-9af2-8951-8000-00006193b2c6","ReservedCode2":""}</vt:lpwstr>
  </property>
</Properties>
</file>